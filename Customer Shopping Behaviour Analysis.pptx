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4507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consumer behaviour dataset analysed end to end. Python for cleaning and feature engineering, SQL for business questions, Power BI for the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management team wants to know which factors drive purchases and repeat purchases. Every finding in this deck is mapped back to these drivers.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in Python: 37 missing review ratings imputed using the category mean. Age groups built by quartile: Young 18–31, Adult 32–44, Middle-aged 45–57, Senior 58–70. Promo code used was identical to discount applied, so it was dropped.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Every breakdown showed nearly the same average order value, and purchase amount has essentially no correlation with rating, loyalty or age. So the levers are acquisition, satisfaction and frequency, not basket size.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answer: male customers generate about 68% of revenue simply because there are more of them. Average spend is almost equal. Age groups are similar too; Young customers lead slightly.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Clothing and Accessories well stocked. Outerwear is both the smallest category and the lowest average order, so it needs bundling or cross-selling with Clothing.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half of all orders were discounted, yet discounted baskets are slightly smaller. Only half of discounted buyers reached the average purchase amount, which is what you’d expect by chance. Discounts don’t appear to change behaviour.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Footwear has the best category rating (3.79), Clothing the worst (3.72). Improving the items many people buy but rate poorly moves overall satisfaction the most.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subscribers don’t spend more. Q7: 80% of customers are Loyal under the current threshold; only 2% are New, a warning for future growth. Q9: repeat buying doesn’t translate into subscriptions. That’s a ready-made audience for a subscription campaign.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biggest campaigns in Fall and start Outerwear promotions before winter. Use Summer promotions on Accessories and Footwear to lift the weak season. Nevada has the highest average order at $63.38.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answer to “How can the company leverage consumer shopping data…”. Each pillar maps to findings on the earlier slides.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data’s limits. The gender, discount and subscription overlap looks like an artefact of how the dataset was generated.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30920"/>
            <a:ext cx="10566400" cy="525727"/>
          </a:xfrm>
          <a:prstGeom prst="rect">
            <a:avLst/>
          </a:prstGeom>
          <a:noFill/>
          <a:ln/>
        </p:spPr>
        <p:txBody>
          <a:bodyPr wrap="square" lIns="0" tIns="0" rIns="0" bIns="0" rtlCol="0" anchor="t"/>
          <a:lstStyle>
            <a:lvl1pPr marL="0" indent="0" algn="l">
              <a:lnSpc>
                <a:spcPct val="115000"/>
              </a:lnSpc>
              <a:buNone/>
              <a:defRPr lang="en-US" sz="3600" dirty="0">
                <a:solidFill>
                  <a:srgbClr val="15213B"/>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61447"/>
            <a:ext cx="10566400" cy="3883753"/>
          </a:xfrm>
          <a:prstGeom prst="rect">
            <a:avLst/>
          </a:prstGeom>
          <a:noFill/>
          <a:ln/>
        </p:spPr>
        <p:txBody>
          <a:bodyPr wrap="square" lIns="0" tIns="0" rIns="0" bIns="0" rtlCol="0" anchor="t"/>
          <a:lstStyle>
            <a:lvl1pPr marL="0" indent="0" algn="l">
              <a:lnSpc>
                <a:spcPct val="140000"/>
              </a:lnSpc>
              <a:buNone/>
              <a:defRPr lang="en-US" sz="1600" dirty="0">
                <a:solidFill>
                  <a:srgbClr val="15213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30920"/>
            <a:ext cx="10566400" cy="525727"/>
          </a:xfrm>
          <a:prstGeom prst="rect">
            <a:avLst/>
          </a:prstGeom>
          <a:noFill/>
          <a:ln/>
        </p:spPr>
        <p:txBody>
          <a:bodyPr wrap="square" lIns="0" tIns="0" rIns="0" bIns="0" rtlCol="0" anchor="t"/>
          <a:lstStyle>
            <a:lvl1pPr marL="0" indent="0" algn="l">
              <a:lnSpc>
                <a:spcPct val="115000"/>
              </a:lnSpc>
              <a:buNone/>
              <a:defRPr lang="en-US" sz="3600" dirty="0">
                <a:solidFill>
                  <a:srgbClr val="15213B"/>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61447"/>
            <a:ext cx="10566400" cy="3883753"/>
          </a:xfrm>
          <a:prstGeom prst="rect">
            <a:avLst/>
          </a:prstGeom>
          <a:noFill/>
          <a:ln/>
        </p:spPr>
        <p:txBody>
          <a:bodyPr wrap="square" lIns="0" tIns="0" rIns="0" bIns="0" rtlCol="0" anchor="t"/>
          <a:lstStyle>
            <a:lvl1pPr marL="0" indent="0" algn="l">
              <a:lnSpc>
                <a:spcPct val="140000"/>
              </a:lnSpc>
              <a:buNone/>
              <a:defRPr lang="en-US" sz="1600" dirty="0">
                <a:solidFill>
                  <a:srgbClr val="15213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13B"/>
        </a:solidFill>
        <a:effectLst/>
      </p:bgPr>
    </p:bg>
    <p:spTree>
      <p:nvGrpSpPr>
        <p:cNvPr id="1" name=""/>
        <p:cNvGrpSpPr/>
        <p:nvPr/>
      </p:nvGrpSpPr>
      <p:grpSpPr>
        <a:xfrm>
          <a:off x="0" y="0"/>
          <a:ext cx="0" cy="0"/>
          <a:chOff x="0" y="0"/>
          <a:chExt cx="0" cy="0"/>
        </a:xfrm>
      </p:grpSpPr>
      <p:sp>
        <p:nvSpPr>
          <p:cNvPr id="2" name="Shape 0"/>
          <p:cNvSpPr/>
          <p:nvPr/>
        </p:nvSpPr>
        <p:spPr>
          <a:xfrm>
            <a:off x="7823200" y="0"/>
            <a:ext cx="4368800" cy="6858000"/>
          </a:xfrm>
          <a:prstGeom prst="rect">
            <a:avLst/>
          </a:prstGeom>
          <a:gradFill rotWithShape="1">
            <a:gsLst>
              <a:gs pos="0">
                <a:srgbClr val="1E3157"/>
              </a:gs>
              <a:gs pos="100000">
                <a:srgbClr val="15213B"/>
              </a:gs>
            </a:gsLst>
            <a:lin ang="42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65A"/>
                </a:solidFill>
                <a:latin typeface="Arial" pitchFamily="34" charset="0"/>
                <a:ea typeface="Arial" pitchFamily="34" charset="-122"/>
                <a:cs typeface="Arial" pitchFamily="34" charset="-120"/>
              </a:rPr>
              <a:t>DATA ANALYSIS PORTFOLIO PROJECT</a:t>
            </a:r>
            <a:endParaRPr lang="en-US" sz="1200" dirty="0"/>
          </a:p>
        </p:txBody>
      </p:sp>
      <p:sp>
        <p:nvSpPr>
          <p:cNvPr id="4" name="Text 2"/>
          <p:cNvSpPr>
            <a:spLocks noGrp="1"/>
          </p:cNvSpPr>
          <p:nvPr>
            <p:ph type="title"/>
          </p:nvPr>
        </p:nvSpPr>
        <p:spPr>
          <a:xfrm>
            <a:off x="812800" y="2128573"/>
            <a:ext cx="850265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F"/>
                </a:solidFill>
                <a:latin typeface="Arial" pitchFamily="34" charset="0"/>
                <a:ea typeface="Arial" pitchFamily="34" charset="-122"/>
                <a:cs typeface="Arial" pitchFamily="34" charset="-120"/>
              </a:rPr>
              <a:t>Customer Shopping Behaviour Analysis</a:t>
            </a:r>
            <a:endParaRPr lang="en-US" sz="6000" dirty="0"/>
          </a:p>
        </p:txBody>
      </p:sp>
      <p:sp>
        <p:nvSpPr>
          <p:cNvPr id="5" name="Text 3"/>
          <p:cNvSpPr/>
          <p:nvPr/>
        </p:nvSpPr>
        <p:spPr>
          <a:xfrm>
            <a:off x="812800" y="3931973"/>
            <a:ext cx="7848600" cy="751814"/>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9C3D6"/>
                </a:solidFill>
                <a:latin typeface="Arial" pitchFamily="34" charset="0"/>
                <a:ea typeface="Arial" pitchFamily="34" charset="-122"/>
                <a:cs typeface="Arial" pitchFamily="34" charset="-120"/>
              </a:rPr>
              <a:t>What the data says about trends, engagement and marketing strategy</a:t>
            </a:r>
            <a:endParaRPr lang="en-US" sz="2200" dirty="0"/>
          </a:p>
        </p:txBody>
      </p:sp>
      <p:sp>
        <p:nvSpPr>
          <p:cNvPr id="6" name="Text 4"/>
          <p:cNvSpPr/>
          <p:nvPr/>
        </p:nvSpPr>
        <p:spPr>
          <a:xfrm>
            <a:off x="812800" y="5760773"/>
            <a:ext cx="731758"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4EF"/>
                </a:solidFill>
                <a:latin typeface="Arial" pitchFamily="34" charset="0"/>
                <a:ea typeface="Arial" pitchFamily="34" charset="-122"/>
                <a:cs typeface="Arial" pitchFamily="34" charset="-120"/>
              </a:rPr>
              <a:t>Nilesh</a:t>
            </a:r>
            <a:endParaRPr lang="en-US" sz="1600" dirty="0"/>
          </a:p>
        </p:txBody>
      </p:sp>
      <p:sp>
        <p:nvSpPr>
          <p:cNvPr id="7" name="Text 5"/>
          <p:cNvSpPr/>
          <p:nvPr/>
        </p:nvSpPr>
        <p:spPr>
          <a:xfrm>
            <a:off x="1828998" y="5760773"/>
            <a:ext cx="2623675"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3D6"/>
                </a:solidFill>
                <a:latin typeface="Arial" pitchFamily="34" charset="0"/>
                <a:ea typeface="Arial" pitchFamily="34" charset="-122"/>
                <a:cs typeface="Arial" pitchFamily="34" charset="-120"/>
              </a:rPr>
              <a:t>Python · SQL · Power BI</a:t>
            </a:r>
            <a:endParaRPr lang="en-US" sz="1600" dirty="0"/>
          </a:p>
        </p:txBody>
      </p:sp>
      <p:sp>
        <p:nvSpPr>
          <p:cNvPr id="8" name="Text 6"/>
          <p:cNvSpPr/>
          <p:nvPr/>
        </p:nvSpPr>
        <p:spPr>
          <a:xfrm>
            <a:off x="4452673" y="5760773"/>
            <a:ext cx="256151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3D6"/>
                </a:solidFill>
                <a:latin typeface="Arial" pitchFamily="34" charset="0"/>
                <a:ea typeface="Arial" pitchFamily="34" charset="-122"/>
                <a:cs typeface="Arial" pitchFamily="34" charset="-120"/>
              </a:rPr>
              <a:t>3,900 customer records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THE BUSINESS PROBLEM</a:t>
            </a:r>
            <a:endParaRPr lang="en-US" sz="1200" dirty="0"/>
          </a:p>
        </p:txBody>
      </p:sp>
      <p:sp>
        <p:nvSpPr>
          <p:cNvPr id="3" name="Text 1"/>
          <p:cNvSpPr>
            <a:spLocks noGrp="1"/>
          </p:cNvSpPr>
          <p:nvPr>
            <p:ph type="title"/>
          </p:nvPr>
        </p:nvSpPr>
        <p:spPr>
          <a:xfrm>
            <a:off x="812800" y="1381720"/>
            <a:ext cx="10464800" cy="1602581"/>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“How can the company use shopping data to spot trends, improve engagement and sharpen marketing and product strategy?”</a:t>
            </a:r>
            <a:endParaRPr lang="en-US" sz="3600" dirty="0"/>
          </a:p>
        </p:txBody>
      </p:sp>
      <p:sp>
        <p:nvSpPr>
          <p:cNvPr id="4" name="Shape 2"/>
          <p:cNvSpPr/>
          <p:nvPr/>
        </p:nvSpPr>
        <p:spPr>
          <a:xfrm>
            <a:off x="815975" y="3317677"/>
            <a:ext cx="3380317" cy="1576851"/>
          </a:xfrm>
          <a:prstGeom prst="roundRect">
            <a:avLst>
              <a:gd name="adj" fmla="val 6242"/>
            </a:avLst>
          </a:prstGeom>
          <a:solidFill>
            <a:srgbClr val="FFFFFF"/>
          </a:solidFill>
          <a:ln w="6350">
            <a:solidFill>
              <a:srgbClr val="E2DED4"/>
            </a:solidFill>
            <a:prstDash val="solid"/>
          </a:ln>
        </p:spPr>
      </p:sp>
      <p:sp>
        <p:nvSpPr>
          <p:cNvPr id="5" name="Text 3"/>
          <p:cNvSpPr/>
          <p:nvPr/>
        </p:nvSpPr>
        <p:spPr>
          <a:xfrm>
            <a:off x="1071033" y="3572735"/>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E6BAA"/>
                </a:solidFill>
                <a:latin typeface="Arial" pitchFamily="34" charset="0"/>
                <a:ea typeface="Arial" pitchFamily="34" charset="-122"/>
                <a:cs typeface="Arial" pitchFamily="34" charset="-120"/>
              </a:rPr>
              <a:t>Goal</a:t>
            </a:r>
            <a:endParaRPr lang="en-US" sz="1600" dirty="0"/>
          </a:p>
        </p:txBody>
      </p:sp>
      <p:sp>
        <p:nvSpPr>
          <p:cNvPr id="6" name="Text 4"/>
          <p:cNvSpPr/>
          <p:nvPr/>
        </p:nvSpPr>
        <p:spPr>
          <a:xfrm>
            <a:off x="1071033" y="3892748"/>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Lift sales, customer satisfaction and long-term loyalty</a:t>
            </a:r>
            <a:endParaRPr lang="en-US" sz="1400" dirty="0"/>
          </a:p>
        </p:txBody>
      </p:sp>
      <p:sp>
        <p:nvSpPr>
          <p:cNvPr id="7" name="Shape 5"/>
          <p:cNvSpPr/>
          <p:nvPr/>
        </p:nvSpPr>
        <p:spPr>
          <a:xfrm>
            <a:off x="4405842" y="3317677"/>
            <a:ext cx="3380317" cy="1576851"/>
          </a:xfrm>
          <a:prstGeom prst="roundRect">
            <a:avLst>
              <a:gd name="adj" fmla="val 6242"/>
            </a:avLst>
          </a:prstGeom>
          <a:solidFill>
            <a:srgbClr val="FFFFFF"/>
          </a:solidFill>
          <a:ln w="6350">
            <a:solidFill>
              <a:srgbClr val="E2DED4"/>
            </a:solidFill>
            <a:prstDash val="solid"/>
          </a:ln>
        </p:spPr>
      </p:sp>
      <p:sp>
        <p:nvSpPr>
          <p:cNvPr id="8" name="Text 6"/>
          <p:cNvSpPr/>
          <p:nvPr/>
        </p:nvSpPr>
        <p:spPr>
          <a:xfrm>
            <a:off x="4660900" y="3572735"/>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E6BAA"/>
                </a:solidFill>
                <a:latin typeface="Arial" pitchFamily="34" charset="0"/>
                <a:ea typeface="Arial" pitchFamily="34" charset="-122"/>
                <a:cs typeface="Arial" pitchFamily="34" charset="-120"/>
              </a:rPr>
              <a:t>Concern</a:t>
            </a:r>
            <a:endParaRPr lang="en-US" sz="1600" dirty="0"/>
          </a:p>
        </p:txBody>
      </p:sp>
      <p:sp>
        <p:nvSpPr>
          <p:cNvPr id="9" name="Text 7"/>
          <p:cNvSpPr/>
          <p:nvPr/>
        </p:nvSpPr>
        <p:spPr>
          <a:xfrm>
            <a:off x="4660900" y="3892748"/>
            <a:ext cx="2956306"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Buying patterns are shifting across demographics, categories and channels</a:t>
            </a:r>
            <a:endParaRPr lang="en-US" sz="1400" dirty="0"/>
          </a:p>
        </p:txBody>
      </p:sp>
      <p:sp>
        <p:nvSpPr>
          <p:cNvPr id="10" name="Shape 8"/>
          <p:cNvSpPr/>
          <p:nvPr/>
        </p:nvSpPr>
        <p:spPr>
          <a:xfrm>
            <a:off x="7995709" y="3317677"/>
            <a:ext cx="3380317" cy="1576851"/>
          </a:xfrm>
          <a:prstGeom prst="roundRect">
            <a:avLst>
              <a:gd name="adj" fmla="val 6242"/>
            </a:avLst>
          </a:prstGeom>
          <a:solidFill>
            <a:srgbClr val="FFFFFF"/>
          </a:solidFill>
          <a:ln w="6350">
            <a:solidFill>
              <a:srgbClr val="E2DED4"/>
            </a:solidFill>
            <a:prstDash val="solid"/>
          </a:ln>
        </p:spPr>
      </p:sp>
      <p:sp>
        <p:nvSpPr>
          <p:cNvPr id="11" name="Text 9"/>
          <p:cNvSpPr/>
          <p:nvPr/>
        </p:nvSpPr>
        <p:spPr>
          <a:xfrm>
            <a:off x="8250767" y="3572735"/>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E6BAA"/>
                </a:solidFill>
                <a:latin typeface="Arial" pitchFamily="34" charset="0"/>
                <a:ea typeface="Arial" pitchFamily="34" charset="-122"/>
                <a:cs typeface="Arial" pitchFamily="34" charset="-120"/>
              </a:rPr>
              <a:t>Drivers to test</a:t>
            </a:r>
            <a:endParaRPr lang="en-US" sz="1600" dirty="0"/>
          </a:p>
        </p:txBody>
      </p:sp>
      <p:sp>
        <p:nvSpPr>
          <p:cNvPr id="12" name="Text 10"/>
          <p:cNvSpPr/>
          <p:nvPr/>
        </p:nvSpPr>
        <p:spPr>
          <a:xfrm>
            <a:off x="8250767" y="3892748"/>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Discounts, reviews, seasons, payment and shipping preferences</a:t>
            </a:r>
            <a:endParaRPr lang="en-US" sz="1400" dirty="0"/>
          </a:p>
        </p:txBody>
      </p:sp>
      <p:sp>
        <p:nvSpPr>
          <p:cNvPr id="13" name="Text 11"/>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02 · Customer Shopping Behaviour Analysis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THE DATASET AT A GLANCE</a:t>
            </a:r>
            <a:endParaRPr lang="en-US" sz="1200" dirty="0"/>
          </a:p>
        </p:txBody>
      </p:sp>
      <p:sp>
        <p:nvSpPr>
          <p:cNvPr id="3" name="Text 1"/>
          <p:cNvSpPr>
            <a:spLocks noGrp="1"/>
          </p:cNvSpPr>
          <p:nvPr>
            <p:ph type="title"/>
          </p:nvPr>
        </p:nvSpPr>
        <p:spPr>
          <a:xfrm>
            <a:off x="812800" y="1381720"/>
            <a:ext cx="10883392" cy="1076854"/>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One purchase record per customer, 18 attributes</a:t>
            </a:r>
            <a:endParaRPr lang="en-US" sz="3600" dirty="0"/>
          </a:p>
        </p:txBody>
      </p:sp>
      <p:sp>
        <p:nvSpPr>
          <p:cNvPr id="4" name="Shape 2"/>
          <p:cNvSpPr/>
          <p:nvPr/>
        </p:nvSpPr>
        <p:spPr>
          <a:xfrm>
            <a:off x="812800" y="2807826"/>
            <a:ext cx="2489200" cy="0"/>
          </a:xfrm>
          <a:prstGeom prst="line">
            <a:avLst/>
          </a:prstGeom>
          <a:noFill/>
          <a:ln w="38100">
            <a:solidFill>
              <a:srgbClr val="2E6BAA"/>
            </a:solidFill>
            <a:prstDash val="solid"/>
          </a:ln>
        </p:spPr>
      </p:sp>
      <p:sp>
        <p:nvSpPr>
          <p:cNvPr id="5" name="Text 3"/>
          <p:cNvSpPr/>
          <p:nvPr/>
        </p:nvSpPr>
        <p:spPr>
          <a:xfrm>
            <a:off x="812800" y="3030076"/>
            <a:ext cx="2563876"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5213B"/>
                </a:solidFill>
                <a:latin typeface="Arial" pitchFamily="34" charset="0"/>
                <a:ea typeface="Arial" pitchFamily="34" charset="-122"/>
                <a:cs typeface="Arial" pitchFamily="34" charset="-120"/>
              </a:rPr>
              <a:t>3,900</a:t>
            </a:r>
            <a:endParaRPr lang="en-US" sz="4800" dirty="0"/>
          </a:p>
        </p:txBody>
      </p:sp>
      <p:sp>
        <p:nvSpPr>
          <p:cNvPr id="6" name="Text 4"/>
          <p:cNvSpPr/>
          <p:nvPr/>
        </p:nvSpPr>
        <p:spPr>
          <a:xfrm>
            <a:off x="812800" y="3751396"/>
            <a:ext cx="256387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customers</a:t>
            </a:r>
            <a:endParaRPr lang="en-US" sz="1400" dirty="0"/>
          </a:p>
        </p:txBody>
      </p:sp>
      <p:sp>
        <p:nvSpPr>
          <p:cNvPr id="7" name="Shape 5"/>
          <p:cNvSpPr/>
          <p:nvPr/>
        </p:nvSpPr>
        <p:spPr>
          <a:xfrm>
            <a:off x="3505200" y="2807826"/>
            <a:ext cx="2489200" cy="0"/>
          </a:xfrm>
          <a:prstGeom prst="line">
            <a:avLst/>
          </a:prstGeom>
          <a:noFill/>
          <a:ln w="38100">
            <a:solidFill>
              <a:srgbClr val="2E6BAA"/>
            </a:solidFill>
            <a:prstDash val="solid"/>
          </a:ln>
        </p:spPr>
      </p:sp>
      <p:sp>
        <p:nvSpPr>
          <p:cNvPr id="8" name="Text 6"/>
          <p:cNvSpPr/>
          <p:nvPr/>
        </p:nvSpPr>
        <p:spPr>
          <a:xfrm>
            <a:off x="3505200" y="3030076"/>
            <a:ext cx="2563876"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5213B"/>
                </a:solidFill>
                <a:latin typeface="Arial" pitchFamily="34" charset="0"/>
                <a:ea typeface="Arial" pitchFamily="34" charset="-122"/>
                <a:cs typeface="Arial" pitchFamily="34" charset="-120"/>
              </a:rPr>
              <a:t>$233K</a:t>
            </a:r>
            <a:endParaRPr lang="en-US" sz="4800" dirty="0"/>
          </a:p>
        </p:txBody>
      </p:sp>
      <p:sp>
        <p:nvSpPr>
          <p:cNvPr id="9" name="Text 7"/>
          <p:cNvSpPr/>
          <p:nvPr/>
        </p:nvSpPr>
        <p:spPr>
          <a:xfrm>
            <a:off x="3505200" y="3751396"/>
            <a:ext cx="256387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total revenue</a:t>
            </a:r>
            <a:endParaRPr lang="en-US" sz="1400" dirty="0"/>
          </a:p>
        </p:txBody>
      </p:sp>
      <p:sp>
        <p:nvSpPr>
          <p:cNvPr id="10" name="Shape 8"/>
          <p:cNvSpPr/>
          <p:nvPr/>
        </p:nvSpPr>
        <p:spPr>
          <a:xfrm>
            <a:off x="6197600" y="2807826"/>
            <a:ext cx="2489200" cy="0"/>
          </a:xfrm>
          <a:prstGeom prst="line">
            <a:avLst/>
          </a:prstGeom>
          <a:noFill/>
          <a:ln w="38100">
            <a:solidFill>
              <a:srgbClr val="2E6BAA"/>
            </a:solidFill>
            <a:prstDash val="solid"/>
          </a:ln>
        </p:spPr>
      </p:sp>
      <p:sp>
        <p:nvSpPr>
          <p:cNvPr id="11" name="Text 9"/>
          <p:cNvSpPr/>
          <p:nvPr/>
        </p:nvSpPr>
        <p:spPr>
          <a:xfrm>
            <a:off x="6197600" y="3030076"/>
            <a:ext cx="2563876"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5213B"/>
                </a:solidFill>
                <a:latin typeface="Arial" pitchFamily="34" charset="0"/>
                <a:ea typeface="Arial" pitchFamily="34" charset="-122"/>
                <a:cs typeface="Arial" pitchFamily="34" charset="-120"/>
              </a:rPr>
              <a:t>$59.76</a:t>
            </a:r>
            <a:endParaRPr lang="en-US" sz="4800" dirty="0"/>
          </a:p>
        </p:txBody>
      </p:sp>
      <p:sp>
        <p:nvSpPr>
          <p:cNvPr id="12" name="Text 10"/>
          <p:cNvSpPr/>
          <p:nvPr/>
        </p:nvSpPr>
        <p:spPr>
          <a:xfrm>
            <a:off x="6197600" y="3751396"/>
            <a:ext cx="256387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average order value</a:t>
            </a:r>
            <a:endParaRPr lang="en-US" sz="1400" dirty="0"/>
          </a:p>
        </p:txBody>
      </p:sp>
      <p:sp>
        <p:nvSpPr>
          <p:cNvPr id="13" name="Shape 11"/>
          <p:cNvSpPr/>
          <p:nvPr/>
        </p:nvSpPr>
        <p:spPr>
          <a:xfrm>
            <a:off x="8890000" y="2807826"/>
            <a:ext cx="2489200" cy="0"/>
          </a:xfrm>
          <a:prstGeom prst="line">
            <a:avLst/>
          </a:prstGeom>
          <a:noFill/>
          <a:ln w="38100">
            <a:solidFill>
              <a:srgbClr val="2E6BAA"/>
            </a:solidFill>
            <a:prstDash val="solid"/>
          </a:ln>
        </p:spPr>
      </p:sp>
      <p:sp>
        <p:nvSpPr>
          <p:cNvPr id="14" name="Text 12"/>
          <p:cNvSpPr/>
          <p:nvPr/>
        </p:nvSpPr>
        <p:spPr>
          <a:xfrm>
            <a:off x="8890000" y="3030076"/>
            <a:ext cx="2563876"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5213B"/>
                </a:solidFill>
                <a:latin typeface="Arial" pitchFamily="34" charset="0"/>
                <a:ea typeface="Arial" pitchFamily="34" charset="-122"/>
                <a:cs typeface="Arial" pitchFamily="34" charset="-120"/>
              </a:rPr>
              <a:t>3.75★</a:t>
            </a:r>
            <a:endParaRPr lang="en-US" sz="4800" dirty="0"/>
          </a:p>
        </p:txBody>
      </p:sp>
      <p:sp>
        <p:nvSpPr>
          <p:cNvPr id="15" name="Text 13"/>
          <p:cNvSpPr/>
          <p:nvPr/>
        </p:nvSpPr>
        <p:spPr>
          <a:xfrm>
            <a:off x="8890000" y="3751396"/>
            <a:ext cx="256387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average review rating</a:t>
            </a:r>
            <a:endParaRPr lang="en-US" sz="1400" dirty="0"/>
          </a:p>
        </p:txBody>
      </p:sp>
      <p:sp>
        <p:nvSpPr>
          <p:cNvPr id="16" name="Text 14"/>
          <p:cNvSpPr/>
          <p:nvPr/>
        </p:nvSpPr>
        <p:spPr>
          <a:xfrm>
            <a:off x="812800" y="4355902"/>
            <a:ext cx="9810750" cy="5588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15213B"/>
                </a:solidFill>
                <a:latin typeface="Arial" pitchFamily="34" charset="0"/>
                <a:ea typeface="Arial" pitchFamily="34" charset="-122"/>
                <a:cs typeface="Arial" pitchFamily="34" charset="-120"/>
              </a:rPr>
              <a:t>Prep:</a:t>
            </a:r>
            <a:r>
              <a:rPr lang="en-US" sz="1400" dirty="0">
                <a:solidFill>
                  <a:srgbClr val="4A5568"/>
                </a:solidFill>
                <a:latin typeface="Arial" pitchFamily="34" charset="0"/>
                <a:ea typeface="Arial" pitchFamily="34" charset="-122"/>
                <a:cs typeface="Arial" pitchFamily="34" charset="-120"/>
              </a:rPr>
              <a:t> missing ratings filled with category averages · columns standardised · age groups and purchase-frequency days engineered · duplicate promo-code column dropped</a:t>
            </a:r>
            <a:endParaRPr lang="en-US" sz="1400" dirty="0"/>
          </a:p>
        </p:txBody>
      </p:sp>
      <p:sp>
        <p:nvSpPr>
          <p:cNvPr id="17" name="Text 15"/>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03 · Customer Shopping Behaviour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13B"/>
        </a:solidFill>
        <a:effectLst/>
      </p:bgPr>
    </p:bg>
    <p:spTree>
      <p:nvGrpSpPr>
        <p:cNvPr id="1" name=""/>
        <p:cNvGrpSpPr/>
        <p:nvPr/>
      </p:nvGrpSpPr>
      <p:grpSpPr>
        <a:xfrm>
          <a:off x="0" y="0"/>
          <a:ext cx="0" cy="0"/>
          <a:chOff x="0" y="0"/>
          <a:chExt cx="0" cy="0"/>
        </a:xfrm>
      </p:grpSpPr>
      <p:sp>
        <p:nvSpPr>
          <p:cNvPr id="2" name="Text 0"/>
          <p:cNvSpPr/>
          <p:nvPr/>
        </p:nvSpPr>
        <p:spPr>
          <a:xfrm>
            <a:off x="812800" y="129553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65A"/>
                </a:solidFill>
                <a:latin typeface="Arial" pitchFamily="34" charset="0"/>
                <a:ea typeface="Arial" pitchFamily="34" charset="-122"/>
                <a:cs typeface="Arial" pitchFamily="34" charset="-120"/>
              </a:rPr>
              <a:t>THE KEY INSIGHT</a:t>
            </a:r>
            <a:endParaRPr lang="en-US" sz="1200" dirty="0"/>
          </a:p>
        </p:txBody>
      </p:sp>
      <p:sp>
        <p:nvSpPr>
          <p:cNvPr id="3" name="Text 1"/>
          <p:cNvSpPr>
            <a:spLocks noGrp="1"/>
          </p:cNvSpPr>
          <p:nvPr>
            <p:ph type="title"/>
          </p:nvPr>
        </p:nvSpPr>
        <p:spPr>
          <a:xfrm>
            <a:off x="812800" y="1813654"/>
            <a:ext cx="10464800" cy="203696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4EF"/>
                </a:solidFill>
                <a:latin typeface="Arial" pitchFamily="34" charset="0"/>
                <a:ea typeface="Arial" pitchFamily="34" charset="-122"/>
                <a:cs typeface="Arial" pitchFamily="34" charset="-120"/>
              </a:rPr>
              <a:t>Revenue depends on how many customers buy, not on how much each one spends.</a:t>
            </a:r>
            <a:endParaRPr lang="en-US" sz="4800" dirty="0"/>
          </a:p>
        </p:txBody>
      </p:sp>
      <p:sp>
        <p:nvSpPr>
          <p:cNvPr id="4" name="Text 2"/>
          <p:cNvSpPr/>
          <p:nvPr/>
        </p:nvSpPr>
        <p:spPr>
          <a:xfrm>
            <a:off x="812800" y="4130015"/>
            <a:ext cx="9810750" cy="665427"/>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9C3D6"/>
                </a:solidFill>
                <a:latin typeface="Arial" pitchFamily="34" charset="0"/>
                <a:ea typeface="Arial" pitchFamily="34" charset="-122"/>
                <a:cs typeface="Arial" pitchFamily="34" charset="-120"/>
              </a:rPr>
              <a:t>Average order value stays between </a:t>
            </a:r>
            <a:r>
              <a:rPr lang="en-US" sz="1800" b="1" dirty="0">
                <a:solidFill>
                  <a:srgbClr val="F6F4EF"/>
                </a:solidFill>
                <a:latin typeface="Arial" pitchFamily="34" charset="0"/>
                <a:ea typeface="Arial" pitchFamily="34" charset="-122"/>
                <a:cs typeface="Arial" pitchFamily="34" charset="-120"/>
              </a:rPr>
              <a:t>$57 and $61</a:t>
            </a:r>
            <a:r>
              <a:rPr lang="en-US" sz="1800" dirty="0">
                <a:solidFill>
                  <a:srgbClr val="B9C3D6"/>
                </a:solidFill>
                <a:latin typeface="Arial" pitchFamily="34" charset="0"/>
                <a:ea typeface="Arial" pitchFamily="34" charset="-122"/>
                <a:cs typeface="Arial" pitchFamily="34" charset="-120"/>
              </a:rPr>
              <a:t> in every segment: gender, age, season, payment, shipping, subscription and discount.</a:t>
            </a:r>
            <a:endParaRPr lang="en-US" sz="1800" dirty="0"/>
          </a:p>
        </p:txBody>
      </p:sp>
      <p:sp>
        <p:nvSpPr>
          <p:cNvPr id="5" name="Text 3"/>
          <p:cNvSpPr/>
          <p:nvPr/>
        </p:nvSpPr>
        <p:spPr>
          <a:xfrm>
            <a:off x="812800" y="5074841"/>
            <a:ext cx="981075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A65A"/>
                </a:solidFill>
                <a:latin typeface="Arial" pitchFamily="34" charset="0"/>
                <a:ea typeface="Arial" pitchFamily="34" charset="-122"/>
                <a:cs typeface="Arial" pitchFamily="34" charset="-120"/>
              </a:rPr>
              <a:t>Growth comes from reaching more customers, satisfying them and bringing them back more often.</a:t>
            </a:r>
            <a:endParaRPr lang="en-US" sz="1600" dirty="0"/>
          </a:p>
        </p:txBody>
      </p:sp>
      <p:sp>
        <p:nvSpPr>
          <p:cNvPr id="6" name="Text 4"/>
          <p:cNvSpPr/>
          <p:nvPr/>
        </p:nvSpPr>
        <p:spPr>
          <a:xfrm>
            <a:off x="812800" y="6238280"/>
            <a:ext cx="65263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8AE"/>
                </a:solidFill>
                <a:latin typeface="Arial" pitchFamily="34" charset="0"/>
                <a:ea typeface="Arial" pitchFamily="34" charset="-122"/>
                <a:cs typeface="Arial" pitchFamily="34" charset="-120"/>
              </a:rPr>
              <a:t>04 · Purchase amount vs rating, previous purchases, age: correlation below 0.03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DEMOGRAPHICS · Q1</a:t>
            </a:r>
            <a:endParaRPr lang="en-US" sz="1200" dirty="0"/>
          </a:p>
        </p:txBody>
      </p:sp>
      <p:sp>
        <p:nvSpPr>
          <p:cNvPr id="3" name="Text 1"/>
          <p:cNvSpPr>
            <a:spLocks noGrp="1"/>
          </p:cNvSpPr>
          <p:nvPr>
            <p:ph type="title"/>
          </p:nvPr>
        </p:nvSpPr>
        <p:spPr>
          <a:xfrm>
            <a:off x="812800" y="133092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Men lead revenue on numbers, not spend</a:t>
            </a:r>
            <a:endParaRPr lang="en-US" sz="3600" dirty="0"/>
          </a:p>
        </p:txBody>
      </p:sp>
      <p:sp>
        <p:nvSpPr>
          <p:cNvPr id="4" name="Shape 2"/>
          <p:cNvSpPr/>
          <p:nvPr/>
        </p:nvSpPr>
        <p:spPr>
          <a:xfrm>
            <a:off x="812800" y="2161449"/>
            <a:ext cx="3454400" cy="457200"/>
          </a:xfrm>
          <a:custGeom>
            <a:avLst/>
            <a:gdLst/>
            <a:ahLst/>
            <a:cxnLst/>
            <a:rect l="l" t="t" r="r" b="b"/>
            <a:pathLst>
              <a:path w="3454400" h="457200">
                <a:moveTo>
                  <a:pt x="0" y="76200"/>
                </a:moveTo>
                <a:arcTo wR="76200" hR="76200" stAng="10800000" swAng="5400000"/>
                <a:lnTo>
                  <a:pt x="3454400" y="0"/>
                </a:lnTo>
                <a:lnTo>
                  <a:pt x="3454400" y="457200"/>
                </a:lnTo>
                <a:lnTo>
                  <a:pt x="76200" y="457200"/>
                </a:lnTo>
                <a:arcTo wR="76200" hR="76200" stAng="5400000" swAng="5400000"/>
                <a:close/>
              </a:path>
            </a:pathLst>
          </a:custGeom>
          <a:solidFill>
            <a:srgbClr val="2E6BAA"/>
          </a:solidFill>
          <a:ln/>
        </p:spPr>
      </p:sp>
      <p:sp>
        <p:nvSpPr>
          <p:cNvPr id="5" name="Shape 3"/>
          <p:cNvSpPr/>
          <p:nvPr/>
        </p:nvSpPr>
        <p:spPr>
          <a:xfrm>
            <a:off x="4267200" y="2161449"/>
            <a:ext cx="1625600" cy="457200"/>
          </a:xfrm>
          <a:custGeom>
            <a:avLst/>
            <a:gdLst/>
            <a:ahLst/>
            <a:cxnLst/>
            <a:rect l="l" t="t" r="r" b="b"/>
            <a:pathLst>
              <a:path w="1625600" h="457200">
                <a:moveTo>
                  <a:pt x="1549400" y="0"/>
                </a:moveTo>
                <a:arcTo wR="76200" hR="76200" stAng="16200000" swAng="5400000"/>
                <a:lnTo>
                  <a:pt x="1625600" y="381000"/>
                </a:lnTo>
                <a:arcTo wR="76200" hR="76200" stAng="0" swAng="5400000"/>
                <a:lnTo>
                  <a:pt x="0" y="457200"/>
                </a:lnTo>
                <a:lnTo>
                  <a:pt x="0" y="0"/>
                </a:lnTo>
                <a:close/>
              </a:path>
            </a:pathLst>
          </a:custGeom>
          <a:solidFill>
            <a:srgbClr val="E8A06A"/>
          </a:solidFill>
          <a:ln/>
        </p:spPr>
      </p:sp>
      <p:sp>
        <p:nvSpPr>
          <p:cNvPr id="6" name="Text 4"/>
          <p:cNvSpPr/>
          <p:nvPr/>
        </p:nvSpPr>
        <p:spPr>
          <a:xfrm>
            <a:off x="812800" y="2771049"/>
            <a:ext cx="251155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E6BAA"/>
                </a:solidFill>
                <a:latin typeface="Arial" pitchFamily="34" charset="0"/>
                <a:ea typeface="Arial" pitchFamily="34" charset="-122"/>
                <a:cs typeface="Arial" pitchFamily="34" charset="-120"/>
              </a:rPr>
              <a:t>Male · 68%</a:t>
            </a:r>
            <a:endParaRPr lang="en-US" sz="1600" dirty="0"/>
          </a:p>
        </p:txBody>
      </p:sp>
      <p:sp>
        <p:nvSpPr>
          <p:cNvPr id="7" name="Text 5"/>
          <p:cNvSpPr/>
          <p:nvPr/>
        </p:nvSpPr>
        <p:spPr>
          <a:xfrm>
            <a:off x="812800" y="3065661"/>
            <a:ext cx="2511552"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2,652 customers</a:t>
            </a:r>
            <a:endParaRPr lang="en-US" sz="1400" dirty="0"/>
          </a:p>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$157.9K revenue</a:t>
            </a:r>
            <a:endParaRPr lang="en-US" sz="1400" dirty="0"/>
          </a:p>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$59.54 average order</a:t>
            </a:r>
            <a:endParaRPr lang="en-US" sz="1400" dirty="0"/>
          </a:p>
        </p:txBody>
      </p:sp>
      <p:sp>
        <p:nvSpPr>
          <p:cNvPr id="8" name="Text 6"/>
          <p:cNvSpPr/>
          <p:nvPr/>
        </p:nvSpPr>
        <p:spPr>
          <a:xfrm>
            <a:off x="3454400" y="2771049"/>
            <a:ext cx="251155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501F"/>
                </a:solidFill>
                <a:latin typeface="Arial" pitchFamily="34" charset="0"/>
                <a:ea typeface="Arial" pitchFamily="34" charset="-122"/>
                <a:cs typeface="Arial" pitchFamily="34" charset="-120"/>
              </a:rPr>
              <a:t>Female · 32%</a:t>
            </a:r>
            <a:endParaRPr lang="en-US" sz="1600" dirty="0"/>
          </a:p>
        </p:txBody>
      </p:sp>
      <p:sp>
        <p:nvSpPr>
          <p:cNvPr id="9" name="Text 7"/>
          <p:cNvSpPr/>
          <p:nvPr/>
        </p:nvSpPr>
        <p:spPr>
          <a:xfrm>
            <a:off x="3454400" y="3065661"/>
            <a:ext cx="2511552"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1,248 customers</a:t>
            </a:r>
            <a:endParaRPr lang="en-US" sz="1400" dirty="0"/>
          </a:p>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$75.2K revenue</a:t>
            </a:r>
            <a:endParaRPr lang="en-US" sz="1400" dirty="0"/>
          </a:p>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$60.25 average order</a:t>
            </a:r>
            <a:endParaRPr lang="en-US" sz="1400" dirty="0"/>
          </a:p>
        </p:txBody>
      </p:sp>
      <p:sp>
        <p:nvSpPr>
          <p:cNvPr id="10" name="Text 8"/>
          <p:cNvSpPr/>
          <p:nvPr/>
        </p:nvSpPr>
        <p:spPr>
          <a:xfrm>
            <a:off x="6299200" y="2161449"/>
            <a:ext cx="523240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B"/>
                </a:solidFill>
                <a:latin typeface="Arial" pitchFamily="34" charset="0"/>
                <a:ea typeface="Arial" pitchFamily="34" charset="-122"/>
                <a:cs typeface="Arial" pitchFamily="34" charset="-120"/>
              </a:rPr>
              <a:t>Revenue by age group</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11900" y="2519561"/>
          <a:ext cx="5067300" cy="1929805"/>
        </p:xfrm>
        <a:graphic>
          <a:graphicData uri="http://schemas.openxmlformats.org/drawingml/2006/table">
            <a:tbl>
              <a:tblPr/>
              <a:tblGrid>
                <a:gridCol w="2026920">
                  <a:extLst>
                    <a:ext uri="{9D8B030D-6E8A-4147-A177-3AD203B41FA5}">
                      <a16:colId xmlns:a16="http://schemas.microsoft.com/office/drawing/2014/main" val="20000"/>
                    </a:ext>
                  </a:extLst>
                </a:gridCol>
                <a:gridCol w="1520190">
                  <a:extLst>
                    <a:ext uri="{9D8B030D-6E8A-4147-A177-3AD203B41FA5}">
                      <a16:colId xmlns:a16="http://schemas.microsoft.com/office/drawing/2014/main" val="20001"/>
                    </a:ext>
                  </a:extLst>
                </a:gridCol>
                <a:gridCol w="152019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15213B"/>
                          </a:solidFill>
                          <a:latin typeface="Arial" pitchFamily="34" charset="0"/>
                          <a:ea typeface="Arial" pitchFamily="34" charset="-122"/>
                          <a:cs typeface="Arial" pitchFamily="34" charset="-120"/>
                        </a:rPr>
                        <a:t>Age group</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5213B"/>
                          </a:solidFill>
                          <a:latin typeface="Arial" pitchFamily="34" charset="0"/>
                          <a:ea typeface="Arial" pitchFamily="34" charset="-122"/>
                          <a:cs typeface="Arial" pitchFamily="34" charset="-120"/>
                        </a:rPr>
                        <a:t>Revenue</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5213B"/>
                          </a:solidFill>
                          <a:latin typeface="Arial" pitchFamily="34" charset="0"/>
                          <a:ea typeface="Arial" pitchFamily="34" charset="-122"/>
                          <a:cs typeface="Arial" pitchFamily="34" charset="-120"/>
                        </a:rPr>
                        <a:t>Avg order</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Young (18–31)</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$62.1K</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$60.45</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Middle-aged (45–57)</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$59.2K</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$60.04</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Adult (32–44)</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$56.0K</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$59.42</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Senior (58–70)</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$55.8K</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$59.07</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Text 9"/>
          <p:cNvSpPr/>
          <p:nvPr/>
        </p:nvSpPr>
        <p:spPr>
          <a:xfrm>
            <a:off x="812800" y="4754166"/>
            <a:ext cx="10566400" cy="571500"/>
          </a:xfrm>
          <a:prstGeom prst="rect">
            <a:avLst/>
          </a:prstGeom>
          <a:solidFill>
            <a:srgbClr val="FFFFFF"/>
          </a:solidFill>
          <a:ln/>
        </p:spPr>
        <p:txBody>
          <a:bodyPr wrap="square" lIns="241300" tIns="152400" rIns="0" bIns="127000" rtlCol="0" anchor="t">
            <a:normAutofit/>
          </a:bodyPr>
          <a:lstStyle/>
          <a:p>
            <a:pPr marL="0" indent="0" algn="l">
              <a:lnSpc>
                <a:spcPts val="2100"/>
              </a:lnSpc>
              <a:buNone/>
            </a:pPr>
            <a:r>
              <a:rPr lang="en-US" sz="1500" b="1" dirty="0">
                <a:solidFill>
                  <a:srgbClr val="15213B"/>
                </a:solidFill>
                <a:latin typeface="Arial" pitchFamily="34" charset="0"/>
                <a:ea typeface="Arial" pitchFamily="34" charset="-122"/>
                <a:cs typeface="Arial" pitchFamily="34" charset="-120"/>
              </a:rPr>
              <a:t>So what:</a:t>
            </a:r>
            <a:r>
              <a:rPr lang="en-US" sz="1500" dirty="0">
                <a:solidFill>
                  <a:srgbClr val="15213B"/>
                </a:solidFill>
                <a:latin typeface="Arial" pitchFamily="34" charset="0"/>
                <a:ea typeface="Arial" pitchFamily="34" charset="-122"/>
                <a:cs typeface="Arial" pitchFamily="34" charset="-120"/>
              </a:rPr>
              <a:t> women spend as much per order but are only a third of customers. They’re the clearest segment to grow.</a:t>
            </a:r>
            <a:endParaRPr lang="en-US" sz="1500" dirty="0"/>
          </a:p>
        </p:txBody>
      </p:sp>
      <p:sp>
        <p:nvSpPr>
          <p:cNvPr id="13" name="Shape 10"/>
          <p:cNvSpPr/>
          <p:nvPr/>
        </p:nvSpPr>
        <p:spPr>
          <a:xfrm>
            <a:off x="831850" y="4754166"/>
            <a:ext cx="0" cy="571500"/>
          </a:xfrm>
          <a:prstGeom prst="line">
            <a:avLst/>
          </a:prstGeom>
          <a:noFill/>
          <a:ln w="38100">
            <a:solidFill>
              <a:srgbClr val="B8501F"/>
            </a:solidFill>
            <a:prstDash val="solid"/>
          </a:ln>
        </p:spPr>
      </p:sp>
      <p:sp>
        <p:nvSpPr>
          <p:cNvPr id="14" name="Text 11"/>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05 · Customer Shopping Behaviour Analysis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PRODUCTS &amp; CATEGORIES · Q8</a:t>
            </a:r>
            <a:endParaRPr lang="en-US" sz="1200" dirty="0"/>
          </a:p>
        </p:txBody>
      </p:sp>
      <p:sp>
        <p:nvSpPr>
          <p:cNvPr id="3" name="Text 1"/>
          <p:cNvSpPr>
            <a:spLocks noGrp="1"/>
          </p:cNvSpPr>
          <p:nvPr>
            <p:ph type="title"/>
          </p:nvPr>
        </p:nvSpPr>
        <p:spPr>
          <a:xfrm>
            <a:off x="812800" y="133092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Two categories drive 77% of revenue</a:t>
            </a:r>
            <a:endParaRPr lang="en-US" sz="3600" dirty="0"/>
          </a:p>
        </p:txBody>
      </p:sp>
      <p:sp>
        <p:nvSpPr>
          <p:cNvPr id="4" name="Text 2"/>
          <p:cNvSpPr/>
          <p:nvPr/>
        </p:nvSpPr>
        <p:spPr>
          <a:xfrm>
            <a:off x="812800" y="2161449"/>
            <a:ext cx="512775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5213B"/>
                </a:solidFill>
                <a:latin typeface="Arial" pitchFamily="34" charset="0"/>
                <a:ea typeface="Arial" pitchFamily="34" charset="-122"/>
                <a:cs typeface="Arial" pitchFamily="34" charset="-120"/>
              </a:rPr>
              <a:t>Clothing</a:t>
            </a:r>
            <a:r>
              <a:rPr lang="en-US" sz="1400" dirty="0">
                <a:solidFill>
                  <a:srgbClr val="15213B"/>
                </a:solidFill>
                <a:latin typeface="Arial" pitchFamily="34" charset="0"/>
                <a:ea typeface="Arial" pitchFamily="34" charset="-122"/>
                <a:cs typeface="Arial" pitchFamily="34" charset="-120"/>
              </a:rPr>
              <a:t> · $104.3K · 45%</a:t>
            </a:r>
            <a:endParaRPr lang="en-US" sz="1400" dirty="0"/>
          </a:p>
        </p:txBody>
      </p:sp>
      <p:sp>
        <p:nvSpPr>
          <p:cNvPr id="5" name="Shape 3"/>
          <p:cNvSpPr/>
          <p:nvPr/>
        </p:nvSpPr>
        <p:spPr>
          <a:xfrm>
            <a:off x="812800" y="2461155"/>
            <a:ext cx="4699000" cy="228600"/>
          </a:xfrm>
          <a:prstGeom prst="roundRect">
            <a:avLst>
              <a:gd name="adj" fmla="val 16667"/>
            </a:avLst>
          </a:prstGeom>
          <a:solidFill>
            <a:srgbClr val="2E6BAA"/>
          </a:solidFill>
          <a:ln/>
        </p:spPr>
      </p:sp>
      <p:sp>
        <p:nvSpPr>
          <p:cNvPr id="6" name="Text 4"/>
          <p:cNvSpPr/>
          <p:nvPr/>
        </p:nvSpPr>
        <p:spPr>
          <a:xfrm>
            <a:off x="812800" y="2867555"/>
            <a:ext cx="512775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5213B"/>
                </a:solidFill>
                <a:latin typeface="Arial" pitchFamily="34" charset="0"/>
                <a:ea typeface="Arial" pitchFamily="34" charset="-122"/>
                <a:cs typeface="Arial" pitchFamily="34" charset="-120"/>
              </a:rPr>
              <a:t>Accessories</a:t>
            </a:r>
            <a:r>
              <a:rPr lang="en-US" sz="1400" dirty="0">
                <a:solidFill>
                  <a:srgbClr val="15213B"/>
                </a:solidFill>
                <a:latin typeface="Arial" pitchFamily="34" charset="0"/>
                <a:ea typeface="Arial" pitchFamily="34" charset="-122"/>
                <a:cs typeface="Arial" pitchFamily="34" charset="-120"/>
              </a:rPr>
              <a:t> · $74.2K · 32%</a:t>
            </a:r>
            <a:endParaRPr lang="en-US" sz="1400" dirty="0"/>
          </a:p>
        </p:txBody>
      </p:sp>
      <p:sp>
        <p:nvSpPr>
          <p:cNvPr id="7" name="Shape 5"/>
          <p:cNvSpPr/>
          <p:nvPr/>
        </p:nvSpPr>
        <p:spPr>
          <a:xfrm>
            <a:off x="812800" y="3167261"/>
            <a:ext cx="3346450" cy="228600"/>
          </a:xfrm>
          <a:prstGeom prst="roundRect">
            <a:avLst>
              <a:gd name="adj" fmla="val 16667"/>
            </a:avLst>
          </a:prstGeom>
          <a:solidFill>
            <a:srgbClr val="2E6BAA"/>
          </a:solidFill>
          <a:ln/>
        </p:spPr>
      </p:sp>
      <p:sp>
        <p:nvSpPr>
          <p:cNvPr id="8" name="Text 6"/>
          <p:cNvSpPr/>
          <p:nvPr/>
        </p:nvSpPr>
        <p:spPr>
          <a:xfrm>
            <a:off x="812800" y="3573661"/>
            <a:ext cx="512775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5213B"/>
                </a:solidFill>
                <a:latin typeface="Arial" pitchFamily="34" charset="0"/>
                <a:ea typeface="Arial" pitchFamily="34" charset="-122"/>
                <a:cs typeface="Arial" pitchFamily="34" charset="-120"/>
              </a:rPr>
              <a:t>Footwear</a:t>
            </a:r>
            <a:r>
              <a:rPr lang="en-US" sz="1400" dirty="0">
                <a:solidFill>
                  <a:srgbClr val="15213B"/>
                </a:solidFill>
                <a:latin typeface="Arial" pitchFamily="34" charset="0"/>
                <a:ea typeface="Arial" pitchFamily="34" charset="-122"/>
                <a:cs typeface="Arial" pitchFamily="34" charset="-120"/>
              </a:rPr>
              <a:t> · $36.1K · 15%</a:t>
            </a:r>
            <a:endParaRPr lang="en-US" sz="1400" dirty="0"/>
          </a:p>
        </p:txBody>
      </p:sp>
      <p:sp>
        <p:nvSpPr>
          <p:cNvPr id="9" name="Shape 7"/>
          <p:cNvSpPr/>
          <p:nvPr/>
        </p:nvSpPr>
        <p:spPr>
          <a:xfrm>
            <a:off x="812800" y="3873370"/>
            <a:ext cx="1625600" cy="228600"/>
          </a:xfrm>
          <a:prstGeom prst="roundRect">
            <a:avLst>
              <a:gd name="adj" fmla="val 16667"/>
            </a:avLst>
          </a:prstGeom>
          <a:solidFill>
            <a:srgbClr val="2E6BAA"/>
          </a:solidFill>
          <a:ln/>
        </p:spPr>
      </p:sp>
      <p:sp>
        <p:nvSpPr>
          <p:cNvPr id="10" name="Text 8"/>
          <p:cNvSpPr/>
          <p:nvPr/>
        </p:nvSpPr>
        <p:spPr>
          <a:xfrm>
            <a:off x="812800" y="4279770"/>
            <a:ext cx="512775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5213B"/>
                </a:solidFill>
                <a:latin typeface="Arial" pitchFamily="34" charset="0"/>
                <a:ea typeface="Arial" pitchFamily="34" charset="-122"/>
                <a:cs typeface="Arial" pitchFamily="34" charset="-120"/>
              </a:rPr>
              <a:t>Outerwear</a:t>
            </a:r>
            <a:r>
              <a:rPr lang="en-US" sz="1400" dirty="0">
                <a:solidFill>
                  <a:srgbClr val="15213B"/>
                </a:solidFill>
                <a:latin typeface="Arial" pitchFamily="34" charset="0"/>
                <a:ea typeface="Arial" pitchFamily="34" charset="-122"/>
                <a:cs typeface="Arial" pitchFamily="34" charset="-120"/>
              </a:rPr>
              <a:t> · $18.5K · 8% · lowest avg $57.17</a:t>
            </a:r>
            <a:endParaRPr lang="en-US" sz="1400" dirty="0"/>
          </a:p>
        </p:txBody>
      </p:sp>
      <p:sp>
        <p:nvSpPr>
          <p:cNvPr id="11" name="Shape 9"/>
          <p:cNvSpPr/>
          <p:nvPr/>
        </p:nvSpPr>
        <p:spPr>
          <a:xfrm>
            <a:off x="812800" y="4579476"/>
            <a:ext cx="831850" cy="228600"/>
          </a:xfrm>
          <a:prstGeom prst="roundRect">
            <a:avLst>
              <a:gd name="adj" fmla="val 16667"/>
            </a:avLst>
          </a:prstGeom>
          <a:solidFill>
            <a:srgbClr val="E8A06A"/>
          </a:solidFill>
          <a:ln/>
        </p:spPr>
      </p:sp>
      <p:sp>
        <p:nvSpPr>
          <p:cNvPr id="12" name="Text 10"/>
          <p:cNvSpPr/>
          <p:nvPr/>
        </p:nvSpPr>
        <p:spPr>
          <a:xfrm>
            <a:off x="6299200" y="2161449"/>
            <a:ext cx="523240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B"/>
                </a:solidFill>
                <a:latin typeface="Arial" pitchFamily="34" charset="0"/>
                <a:ea typeface="Arial" pitchFamily="34" charset="-122"/>
                <a:cs typeface="Arial" pitchFamily="34" charset="-120"/>
              </a:rPr>
              <a:t>Top sellers per category</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11900" y="2519561"/>
          <a:ext cx="5067300" cy="1663235"/>
        </p:xfrm>
        <a:graphic>
          <a:graphicData uri="http://schemas.openxmlformats.org/drawingml/2006/table">
            <a:tbl>
              <a:tblPr/>
              <a:tblGrid>
                <a:gridCol w="1520190">
                  <a:extLst>
                    <a:ext uri="{9D8B030D-6E8A-4147-A177-3AD203B41FA5}">
                      <a16:colId xmlns:a16="http://schemas.microsoft.com/office/drawing/2014/main" val="20000"/>
                    </a:ext>
                  </a:extLst>
                </a:gridCol>
                <a:gridCol w="3547110">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15213B"/>
                          </a:solidFill>
                          <a:latin typeface="Arial" pitchFamily="34" charset="0"/>
                          <a:ea typeface="Arial" pitchFamily="34" charset="-122"/>
                          <a:cs typeface="Arial" pitchFamily="34" charset="-120"/>
                        </a:rPr>
                        <a:t>Category</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680"/>
                        </a:lnSpc>
                        <a:buNone/>
                      </a:pPr>
                      <a:r>
                        <a:rPr lang="en-US" sz="1200" b="1" dirty="0">
                          <a:solidFill>
                            <a:srgbClr val="15213B"/>
                          </a:solidFill>
                          <a:latin typeface="Arial" pitchFamily="34" charset="0"/>
                          <a:ea typeface="Arial" pitchFamily="34" charset="-122"/>
                          <a:cs typeface="Arial" pitchFamily="34" charset="-120"/>
                        </a:rPr>
                        <a:t>Top items (orders)</a:t>
                      </a:r>
                      <a:endParaRPr lang="en-US" sz="1200" dirty="0">
                        <a:latin typeface="Arial" charset="0"/>
                        <a:ea typeface="Arial" charset="0"/>
                        <a:cs typeface="Arial" charset="0"/>
                      </a:endParaRPr>
                    </a:p>
                  </a:txBody>
                  <a:tcPr marL="53340" marR="53340" marT="53340" marB="5334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5213B"/>
                          </a:solidFill>
                          <a:latin typeface="Arial" pitchFamily="34" charset="0"/>
                          <a:ea typeface="Arial" pitchFamily="34" charset="-122"/>
                          <a:cs typeface="Arial" pitchFamily="34" charset="-120"/>
                        </a:rPr>
                        <a:t>Clothing</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5213B"/>
                          </a:solidFill>
                          <a:latin typeface="Arial" pitchFamily="34" charset="0"/>
                          <a:ea typeface="Arial" pitchFamily="34" charset="-122"/>
                          <a:cs typeface="Arial" pitchFamily="34" charset="-120"/>
                        </a:rPr>
                        <a:t>Blouse 171 · Pants 171 · Shirt 169</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5213B"/>
                          </a:solidFill>
                          <a:latin typeface="Arial" pitchFamily="34" charset="0"/>
                          <a:ea typeface="Arial" pitchFamily="34" charset="-122"/>
                          <a:cs typeface="Arial" pitchFamily="34" charset="-120"/>
                        </a:rPr>
                        <a:t>Accessories</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5213B"/>
                          </a:solidFill>
                          <a:latin typeface="Arial" pitchFamily="34" charset="0"/>
                          <a:ea typeface="Arial" pitchFamily="34" charset="-122"/>
                          <a:cs typeface="Arial" pitchFamily="34" charset="-120"/>
                        </a:rPr>
                        <a:t>Jewelry 171 · Belt 161 · Sunglasses 161</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5213B"/>
                          </a:solidFill>
                          <a:latin typeface="Arial" pitchFamily="34" charset="0"/>
                          <a:ea typeface="Arial" pitchFamily="34" charset="-122"/>
                          <a:cs typeface="Arial" pitchFamily="34" charset="-120"/>
                        </a:rPr>
                        <a:t>Footwear</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5213B"/>
                          </a:solidFill>
                          <a:latin typeface="Arial" pitchFamily="34" charset="0"/>
                          <a:ea typeface="Arial" pitchFamily="34" charset="-122"/>
                          <a:cs typeface="Arial" pitchFamily="34" charset="-120"/>
                        </a:rPr>
                        <a:t>Sandals 160 · Shoes 150 · Sneakers 145</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5213B"/>
                          </a:solidFill>
                          <a:latin typeface="Arial" pitchFamily="34" charset="0"/>
                          <a:ea typeface="Arial" pitchFamily="34" charset="-122"/>
                          <a:cs typeface="Arial" pitchFamily="34" charset="-120"/>
                        </a:rPr>
                        <a:t>Outerwear</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5213B"/>
                          </a:solidFill>
                          <a:latin typeface="Arial" pitchFamily="34" charset="0"/>
                          <a:ea typeface="Arial" pitchFamily="34" charset="-122"/>
                          <a:cs typeface="Arial" pitchFamily="34" charset="-120"/>
                        </a:rPr>
                        <a:t>Jacket 163 · Coat 161</a:t>
                      </a:r>
                      <a:endParaRPr lang="en-US" sz="1200" dirty="0">
                        <a:latin typeface="Arial" charset="0"/>
                        <a:ea typeface="Arial" charset="0"/>
                        <a:cs typeface="Arial"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 11"/>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06 · Customer Shopping Behaviour Analysis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DISCOUNTS · Q2 &amp; Q6</a:t>
            </a:r>
            <a:endParaRPr lang="en-US" sz="1200" dirty="0"/>
          </a:p>
        </p:txBody>
      </p:sp>
      <p:sp>
        <p:nvSpPr>
          <p:cNvPr id="3" name="Text 1"/>
          <p:cNvSpPr>
            <a:spLocks noGrp="1"/>
          </p:cNvSpPr>
          <p:nvPr>
            <p:ph type="title"/>
          </p:nvPr>
        </p:nvSpPr>
        <p:spPr>
          <a:xfrm>
            <a:off x="812800" y="133092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Discounts don’t raise spend</a:t>
            </a:r>
            <a:endParaRPr lang="en-US" sz="3600" dirty="0"/>
          </a:p>
        </p:txBody>
      </p:sp>
      <p:sp>
        <p:nvSpPr>
          <p:cNvPr id="4" name="Shape 2"/>
          <p:cNvSpPr/>
          <p:nvPr/>
        </p:nvSpPr>
        <p:spPr>
          <a:xfrm>
            <a:off x="812800" y="2180499"/>
            <a:ext cx="3073400" cy="0"/>
          </a:xfrm>
          <a:prstGeom prst="line">
            <a:avLst/>
          </a:prstGeom>
          <a:noFill/>
          <a:ln w="38100">
            <a:solidFill>
              <a:srgbClr val="B8501F"/>
            </a:solidFill>
            <a:prstDash val="solid"/>
          </a:ln>
        </p:spPr>
      </p:sp>
      <p:sp>
        <p:nvSpPr>
          <p:cNvPr id="5" name="Text 3"/>
          <p:cNvSpPr/>
          <p:nvPr/>
        </p:nvSpPr>
        <p:spPr>
          <a:xfrm>
            <a:off x="812800" y="2351949"/>
            <a:ext cx="3165602"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5213B"/>
                </a:solidFill>
                <a:latin typeface="Arial" pitchFamily="34" charset="0"/>
                <a:ea typeface="Arial" pitchFamily="34" charset="-122"/>
                <a:cs typeface="Arial" pitchFamily="34" charset="-120"/>
              </a:rPr>
              <a:t>43%</a:t>
            </a:r>
            <a:endParaRPr lang="en-US" sz="4000" dirty="0"/>
          </a:p>
        </p:txBody>
      </p:sp>
      <p:sp>
        <p:nvSpPr>
          <p:cNvPr id="6" name="Text 4"/>
          <p:cNvSpPr/>
          <p:nvPr/>
        </p:nvSpPr>
        <p:spPr>
          <a:xfrm>
            <a:off x="812800" y="2961549"/>
            <a:ext cx="316560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of orders used a discount (1,677)</a:t>
            </a:r>
            <a:endParaRPr lang="en-US" sz="1400" dirty="0"/>
          </a:p>
        </p:txBody>
      </p:sp>
      <p:sp>
        <p:nvSpPr>
          <p:cNvPr id="7" name="Shape 5"/>
          <p:cNvSpPr/>
          <p:nvPr/>
        </p:nvSpPr>
        <p:spPr>
          <a:xfrm>
            <a:off x="4089400" y="2180499"/>
            <a:ext cx="3073400" cy="0"/>
          </a:xfrm>
          <a:prstGeom prst="line">
            <a:avLst/>
          </a:prstGeom>
          <a:noFill/>
          <a:ln w="38100">
            <a:solidFill>
              <a:srgbClr val="B8501F"/>
            </a:solidFill>
            <a:prstDash val="solid"/>
          </a:ln>
        </p:spPr>
      </p:sp>
      <p:sp>
        <p:nvSpPr>
          <p:cNvPr id="8" name="Text 6"/>
          <p:cNvSpPr/>
          <p:nvPr/>
        </p:nvSpPr>
        <p:spPr>
          <a:xfrm>
            <a:off x="4089400" y="2351949"/>
            <a:ext cx="3165602"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5213B"/>
                </a:solidFill>
                <a:latin typeface="Arial" pitchFamily="34" charset="0"/>
                <a:ea typeface="Arial" pitchFamily="34" charset="-122"/>
                <a:cs typeface="Arial" pitchFamily="34" charset="-120"/>
              </a:rPr>
              <a:t>50%</a:t>
            </a:r>
            <a:endParaRPr lang="en-US" sz="4000" dirty="0"/>
          </a:p>
        </p:txBody>
      </p:sp>
      <p:sp>
        <p:nvSpPr>
          <p:cNvPr id="9" name="Text 7"/>
          <p:cNvSpPr/>
          <p:nvPr/>
        </p:nvSpPr>
        <p:spPr>
          <a:xfrm>
            <a:off x="4089400" y="2961549"/>
            <a:ext cx="316560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of discounted orders reached the average spend (839)</a:t>
            </a:r>
            <a:endParaRPr lang="en-US" sz="1400" dirty="0"/>
          </a:p>
        </p:txBody>
      </p:sp>
      <p:sp>
        <p:nvSpPr>
          <p:cNvPr id="10" name="Shape 8"/>
          <p:cNvSpPr/>
          <p:nvPr/>
        </p:nvSpPr>
        <p:spPr>
          <a:xfrm>
            <a:off x="812800" y="3743458"/>
            <a:ext cx="6350000" cy="0"/>
          </a:xfrm>
          <a:prstGeom prst="line">
            <a:avLst/>
          </a:prstGeom>
          <a:noFill/>
          <a:ln w="38100">
            <a:solidFill>
              <a:srgbClr val="B8501F"/>
            </a:solidFill>
            <a:prstDash val="solid"/>
          </a:ln>
        </p:spPr>
      </p:sp>
      <p:sp>
        <p:nvSpPr>
          <p:cNvPr id="11" name="Text 9"/>
          <p:cNvSpPr/>
          <p:nvPr/>
        </p:nvSpPr>
        <p:spPr>
          <a:xfrm>
            <a:off x="812800" y="3914908"/>
            <a:ext cx="6540500"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5213B"/>
                </a:solidFill>
                <a:latin typeface="Arial" pitchFamily="34" charset="0"/>
                <a:ea typeface="Arial" pitchFamily="34" charset="-122"/>
                <a:cs typeface="Arial" pitchFamily="34" charset="-120"/>
              </a:rPr>
              <a:t>$59.28 vs $60.13</a:t>
            </a:r>
            <a:endParaRPr lang="en-US" sz="4000" dirty="0"/>
          </a:p>
        </p:txBody>
      </p:sp>
      <p:sp>
        <p:nvSpPr>
          <p:cNvPr id="12" name="Text 10"/>
          <p:cNvSpPr/>
          <p:nvPr/>
        </p:nvSpPr>
        <p:spPr>
          <a:xfrm>
            <a:off x="812800" y="4524508"/>
            <a:ext cx="654050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average order with a discount vs without one</a:t>
            </a:r>
            <a:endParaRPr lang="en-US" sz="1400" dirty="0"/>
          </a:p>
        </p:txBody>
      </p:sp>
      <p:sp>
        <p:nvSpPr>
          <p:cNvPr id="13" name="Text 11"/>
          <p:cNvSpPr/>
          <p:nvPr/>
        </p:nvSpPr>
        <p:spPr>
          <a:xfrm>
            <a:off x="7569200" y="2161449"/>
            <a:ext cx="392430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B"/>
                </a:solidFill>
                <a:latin typeface="Arial" pitchFamily="34" charset="0"/>
                <a:ea typeface="Arial" pitchFamily="34" charset="-122"/>
                <a:cs typeface="Arial" pitchFamily="34" charset="-120"/>
              </a:rPr>
              <a:t>Most often bought on discount</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581900" y="2519561"/>
          <a:ext cx="3797300" cy="2315766"/>
        </p:xfrm>
        <a:graphic>
          <a:graphicData uri="http://schemas.openxmlformats.org/drawingml/2006/table">
            <a:tbl>
              <a:tblPr/>
              <a:tblGrid>
                <a:gridCol w="2278380">
                  <a:extLst>
                    <a:ext uri="{9D8B030D-6E8A-4147-A177-3AD203B41FA5}">
                      <a16:colId xmlns:a16="http://schemas.microsoft.com/office/drawing/2014/main" val="20000"/>
                    </a:ext>
                  </a:extLst>
                </a:gridCol>
                <a:gridCol w="1518920">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15213B"/>
                          </a:solidFill>
                          <a:latin typeface="Arial" pitchFamily="34" charset="0"/>
                          <a:ea typeface="Arial" pitchFamily="34" charset="-122"/>
                          <a:cs typeface="Arial" pitchFamily="34" charset="-120"/>
                        </a:rPr>
                        <a:t>Item</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5213B"/>
                          </a:solidFill>
                          <a:latin typeface="Arial" pitchFamily="34" charset="0"/>
                          <a:ea typeface="Arial" pitchFamily="34" charset="-122"/>
                          <a:cs typeface="Arial" pitchFamily="34" charset="-120"/>
                        </a:rPr>
                        <a:t>Discounted</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Hat</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50.0%</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Sneakers</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49.7%</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Coat</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49.1%</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Sweater</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48.2%</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Pants</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47.4%</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 12"/>
          <p:cNvSpPr/>
          <p:nvPr/>
        </p:nvSpPr>
        <p:spPr>
          <a:xfrm>
            <a:off x="812800" y="5140127"/>
            <a:ext cx="10566400" cy="571500"/>
          </a:xfrm>
          <a:prstGeom prst="rect">
            <a:avLst/>
          </a:prstGeom>
          <a:solidFill>
            <a:srgbClr val="FFFFFF"/>
          </a:solidFill>
          <a:ln/>
        </p:spPr>
        <p:txBody>
          <a:bodyPr wrap="square" lIns="241300" tIns="152400" rIns="0" bIns="127000" rtlCol="0" anchor="t">
            <a:normAutofit/>
          </a:bodyPr>
          <a:lstStyle/>
          <a:p>
            <a:pPr marL="0" indent="0" algn="l">
              <a:lnSpc>
                <a:spcPts val="2100"/>
              </a:lnSpc>
              <a:buNone/>
            </a:pPr>
            <a:r>
              <a:rPr lang="en-US" sz="1500" b="1" dirty="0">
                <a:solidFill>
                  <a:srgbClr val="15213B"/>
                </a:solidFill>
                <a:latin typeface="Arial" pitchFamily="34" charset="0"/>
                <a:ea typeface="Arial" pitchFamily="34" charset="-122"/>
                <a:cs typeface="Arial" pitchFamily="34" charset="-120"/>
              </a:rPr>
              <a:t>So what:</a:t>
            </a:r>
            <a:r>
              <a:rPr lang="en-US" sz="1500" dirty="0">
                <a:solidFill>
                  <a:srgbClr val="15213B"/>
                </a:solidFill>
                <a:latin typeface="Arial" pitchFamily="34" charset="0"/>
                <a:ea typeface="Arial" pitchFamily="34" charset="-122"/>
                <a:cs typeface="Arial" pitchFamily="34" charset="-120"/>
              </a:rPr>
              <a:t> cut blanket discounts on these five items and move to targeted, time-bound offers.</a:t>
            </a:r>
            <a:endParaRPr lang="en-US" sz="1500" dirty="0"/>
          </a:p>
        </p:txBody>
      </p:sp>
      <p:sp>
        <p:nvSpPr>
          <p:cNvPr id="16" name="Shape 13"/>
          <p:cNvSpPr/>
          <p:nvPr/>
        </p:nvSpPr>
        <p:spPr>
          <a:xfrm>
            <a:off x="831850" y="5140127"/>
            <a:ext cx="0" cy="571500"/>
          </a:xfrm>
          <a:prstGeom prst="line">
            <a:avLst/>
          </a:prstGeom>
          <a:noFill/>
          <a:ln w="38100">
            <a:solidFill>
              <a:srgbClr val="B8501F"/>
            </a:solidFill>
            <a:prstDash val="solid"/>
          </a:ln>
        </p:spPr>
      </p:sp>
      <p:sp>
        <p:nvSpPr>
          <p:cNvPr id="17" name="Text 14"/>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07 · Customer Shopping Behaviour Analysis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REVIEWS · Q3</a:t>
            </a:r>
            <a:endParaRPr lang="en-US" sz="1200" dirty="0"/>
          </a:p>
        </p:txBody>
      </p:sp>
      <p:sp>
        <p:nvSpPr>
          <p:cNvPr id="3" name="Text 1"/>
          <p:cNvSpPr>
            <a:spLocks noGrp="1"/>
          </p:cNvSpPr>
          <p:nvPr>
            <p:ph type="title"/>
          </p:nvPr>
        </p:nvSpPr>
        <p:spPr>
          <a:xfrm>
            <a:off x="812800" y="133092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Best sellers are among the lowest rated</a:t>
            </a:r>
            <a:endParaRPr lang="en-US" sz="3600" dirty="0"/>
          </a:p>
        </p:txBody>
      </p:sp>
      <p:sp>
        <p:nvSpPr>
          <p:cNvPr id="4" name="Shape 2"/>
          <p:cNvSpPr/>
          <p:nvPr/>
        </p:nvSpPr>
        <p:spPr>
          <a:xfrm>
            <a:off x="815975" y="2164624"/>
            <a:ext cx="3321050" cy="3224808"/>
          </a:xfrm>
          <a:prstGeom prst="roundRect">
            <a:avLst>
              <a:gd name="adj" fmla="val 3052"/>
            </a:avLst>
          </a:prstGeom>
          <a:solidFill>
            <a:srgbClr val="FFFFFF"/>
          </a:solidFill>
          <a:ln w="6350">
            <a:solidFill>
              <a:srgbClr val="E2DED4"/>
            </a:solidFill>
            <a:prstDash val="solid"/>
          </a:ln>
        </p:spPr>
      </p:sp>
      <p:sp>
        <p:nvSpPr>
          <p:cNvPr id="5" name="Text 3"/>
          <p:cNvSpPr/>
          <p:nvPr/>
        </p:nvSpPr>
        <p:spPr>
          <a:xfrm>
            <a:off x="1071033" y="2419682"/>
            <a:ext cx="289526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E6BAA"/>
                </a:solidFill>
                <a:latin typeface="Arial" pitchFamily="34" charset="0"/>
                <a:ea typeface="Arial" pitchFamily="34" charset="-122"/>
                <a:cs typeface="Arial" pitchFamily="34" charset="-120"/>
              </a:rPr>
              <a:t>Highest rated</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83733" y="2777796"/>
          <a:ext cx="2798233" cy="2315766"/>
        </p:xfrm>
        <a:graphic>
          <a:graphicData uri="http://schemas.openxmlformats.org/drawingml/2006/table">
            <a:tbl>
              <a:tblPr/>
              <a:tblGrid>
                <a:gridCol w="1678940">
                  <a:extLst>
                    <a:ext uri="{9D8B030D-6E8A-4147-A177-3AD203B41FA5}">
                      <a16:colId xmlns:a16="http://schemas.microsoft.com/office/drawing/2014/main" val="20000"/>
                    </a:ext>
                  </a:extLst>
                </a:gridCol>
                <a:gridCol w="1119293">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15213B"/>
                          </a:solidFill>
                          <a:latin typeface="Arial" pitchFamily="34" charset="0"/>
                          <a:ea typeface="Arial" pitchFamily="34" charset="-122"/>
                          <a:cs typeface="Arial" pitchFamily="34" charset="-120"/>
                        </a:rPr>
                        <a:t>Item</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15213B"/>
                          </a:solidFill>
                          <a:latin typeface="Arial" pitchFamily="34" charset="0"/>
                          <a:ea typeface="Arial" pitchFamily="34" charset="-122"/>
                          <a:cs typeface="Arial" pitchFamily="34" charset="-120"/>
                        </a:rPr>
                        <a:t>Rating</a:t>
                      </a:r>
                      <a:endParaRPr lang="en-US" sz="1400" dirty="0">
                        <a:latin typeface="Arial" charset="0"/>
                        <a:ea typeface="Arial" charset="0"/>
                        <a:cs typeface="Arial"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Gloves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3.86</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Sandals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3.84</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Boots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3.82</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Hat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3.80</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Skirt</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3.78</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4448175" y="2164624"/>
            <a:ext cx="3321050" cy="3224808"/>
          </a:xfrm>
          <a:prstGeom prst="roundRect">
            <a:avLst>
              <a:gd name="adj" fmla="val 3052"/>
            </a:avLst>
          </a:prstGeom>
          <a:solidFill>
            <a:srgbClr val="FFFFFF"/>
          </a:solidFill>
          <a:ln w="6350">
            <a:solidFill>
              <a:srgbClr val="E2DED4"/>
            </a:solidFill>
            <a:prstDash val="solid"/>
          </a:ln>
        </p:spPr>
      </p:sp>
      <p:sp>
        <p:nvSpPr>
          <p:cNvPr id="8" name="Text 5"/>
          <p:cNvSpPr/>
          <p:nvPr/>
        </p:nvSpPr>
        <p:spPr>
          <a:xfrm>
            <a:off x="4703233" y="2419682"/>
            <a:ext cx="289526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501F"/>
                </a:solidFill>
                <a:latin typeface="Arial" pitchFamily="34" charset="0"/>
                <a:ea typeface="Arial" pitchFamily="34" charset="-122"/>
                <a:cs typeface="Arial" pitchFamily="34" charset="-120"/>
              </a:rPr>
              <a:t>Lowest rated</a:t>
            </a:r>
            <a:endParaRPr lang="en-US" sz="16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715933" y="2777796"/>
          <a:ext cx="2798233" cy="1792751"/>
        </p:xfrm>
        <a:graphic>
          <a:graphicData uri="http://schemas.openxmlformats.org/drawingml/2006/table">
            <a:tbl>
              <a:tblPr/>
              <a:tblGrid>
                <a:gridCol w="1678940">
                  <a:extLst>
                    <a:ext uri="{9D8B030D-6E8A-4147-A177-3AD203B41FA5}">
                      <a16:colId xmlns:a16="http://schemas.microsoft.com/office/drawing/2014/main" val="20000"/>
                    </a:ext>
                  </a:extLst>
                </a:gridCol>
                <a:gridCol w="1119293">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15213B"/>
                          </a:solidFill>
                          <a:latin typeface="Arial" pitchFamily="34" charset="0"/>
                          <a:ea typeface="Arial" pitchFamily="34" charset="-122"/>
                          <a:cs typeface="Arial" pitchFamily="34" charset="-120"/>
                        </a:rPr>
                        <a:t>Item</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15213B"/>
                          </a:solidFill>
                          <a:latin typeface="Arial" pitchFamily="34" charset="0"/>
                          <a:ea typeface="Arial" pitchFamily="34" charset="-122"/>
                          <a:cs typeface="Arial" pitchFamily="34" charset="-120"/>
                        </a:rPr>
                        <a:t>Rating</a:t>
                      </a:r>
                      <a:endParaRPr lang="en-US" sz="1400" dirty="0">
                        <a:latin typeface="Arial" charset="0"/>
                        <a:ea typeface="Arial" charset="0"/>
                        <a:cs typeface="Arial"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Shirt (169 orders)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3.62</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Jeans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3.65</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634868">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Blouse (171 orders)</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3.68</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6"/>
          <p:cNvSpPr/>
          <p:nvPr/>
        </p:nvSpPr>
        <p:spPr>
          <a:xfrm>
            <a:off x="4703233" y="4672149"/>
            <a:ext cx="2895261"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Shirt and Blouse are both top-3 sellers in Clothing.</a:t>
            </a:r>
            <a:endParaRPr lang="en-US" sz="1300" dirty="0"/>
          </a:p>
        </p:txBody>
      </p:sp>
      <p:sp>
        <p:nvSpPr>
          <p:cNvPr id="11" name="Text 7"/>
          <p:cNvSpPr/>
          <p:nvPr/>
        </p:nvSpPr>
        <p:spPr>
          <a:xfrm>
            <a:off x="8077200" y="2867754"/>
            <a:ext cx="3401060" cy="695854"/>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5213B"/>
                </a:solidFill>
                <a:latin typeface="Arial" pitchFamily="34" charset="0"/>
                <a:ea typeface="Arial" pitchFamily="34" charset="-122"/>
                <a:cs typeface="Arial" pitchFamily="34" charset="-120"/>
              </a:rPr>
              <a:t>The fastest way to lift satisfaction</a:t>
            </a:r>
            <a:endParaRPr lang="en-US" sz="2200" dirty="0"/>
          </a:p>
        </p:txBody>
      </p:sp>
      <p:sp>
        <p:nvSpPr>
          <p:cNvPr id="12" name="Text 8"/>
          <p:cNvSpPr/>
          <p:nvPr/>
        </p:nvSpPr>
        <p:spPr>
          <a:xfrm>
            <a:off x="8077200" y="3690609"/>
            <a:ext cx="3401060" cy="102102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Fix the quality and fit of high-volume, low-rated Clothing. Clothing is 45% of revenue and the lowest-rated category (3.72).</a:t>
            </a:r>
            <a:endParaRPr lang="en-US" sz="1400" dirty="0"/>
          </a:p>
        </p:txBody>
      </p:sp>
      <p:sp>
        <p:nvSpPr>
          <p:cNvPr id="13" name="Text 9"/>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08 · Customer Shopping Behaviour Analysis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SUBSCRIPTION &amp; LOYALTY · Q5, Q7, Q9</a:t>
            </a:r>
            <a:endParaRPr lang="en-US" sz="1200" dirty="0"/>
          </a:p>
        </p:txBody>
      </p:sp>
      <p:sp>
        <p:nvSpPr>
          <p:cNvPr id="3" name="Text 1"/>
          <p:cNvSpPr>
            <a:spLocks noGrp="1"/>
          </p:cNvSpPr>
          <p:nvPr>
            <p:ph type="title"/>
          </p:nvPr>
        </p:nvSpPr>
        <p:spPr>
          <a:xfrm>
            <a:off x="812800" y="128012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Loyal buyers don’t subscribe</a:t>
            </a:r>
            <a:endParaRPr lang="en-US" sz="3600" dirty="0"/>
          </a:p>
        </p:txBody>
      </p:sp>
      <p:sp>
        <p:nvSpPr>
          <p:cNvPr id="4" name="Text 2"/>
          <p:cNvSpPr/>
          <p:nvPr/>
        </p:nvSpPr>
        <p:spPr>
          <a:xfrm>
            <a:off x="812800" y="2059849"/>
            <a:ext cx="640969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213B"/>
                </a:solidFill>
                <a:latin typeface="Arial" pitchFamily="34" charset="0"/>
                <a:ea typeface="Arial" pitchFamily="34" charset="-122"/>
                <a:cs typeface="Arial" pitchFamily="34" charset="-120"/>
              </a:rPr>
              <a:t>Customer segments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17961"/>
          <a:ext cx="6210300" cy="1543844"/>
        </p:xfrm>
        <a:graphic>
          <a:graphicData uri="http://schemas.openxmlformats.org/drawingml/2006/table">
            <a:tbl>
              <a:tblPr/>
              <a:tblGrid>
                <a:gridCol w="2484120">
                  <a:extLst>
                    <a:ext uri="{9D8B030D-6E8A-4147-A177-3AD203B41FA5}">
                      <a16:colId xmlns:a16="http://schemas.microsoft.com/office/drawing/2014/main" val="20000"/>
                    </a:ext>
                  </a:extLst>
                </a:gridCol>
                <a:gridCol w="1863090">
                  <a:extLst>
                    <a:ext uri="{9D8B030D-6E8A-4147-A177-3AD203B41FA5}">
                      <a16:colId xmlns:a16="http://schemas.microsoft.com/office/drawing/2014/main" val="20001"/>
                    </a:ext>
                  </a:extLst>
                </a:gridCol>
                <a:gridCol w="186309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15213B"/>
                          </a:solidFill>
                          <a:latin typeface="Arial" pitchFamily="34" charset="0"/>
                          <a:ea typeface="Arial" pitchFamily="34" charset="-122"/>
                          <a:cs typeface="Arial" pitchFamily="34" charset="-120"/>
                        </a:rPr>
                        <a:t>Segment</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5213B"/>
                          </a:solidFill>
                          <a:latin typeface="Arial" pitchFamily="34" charset="0"/>
                          <a:ea typeface="Arial" pitchFamily="34" charset="-122"/>
                          <a:cs typeface="Arial" pitchFamily="34" charset="-120"/>
                        </a:rPr>
                        <a:t>Customers</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960"/>
                        </a:lnSpc>
                        <a:buNone/>
                      </a:pPr>
                      <a:r>
                        <a:rPr lang="en-US" sz="1400" b="1" dirty="0">
                          <a:solidFill>
                            <a:srgbClr val="15213B"/>
                          </a:solidFill>
                          <a:latin typeface="Arial" pitchFamily="34" charset="0"/>
                          <a:ea typeface="Arial" pitchFamily="34" charset="-122"/>
                          <a:cs typeface="Arial" pitchFamily="34" charset="-120"/>
                        </a:rPr>
                        <a:t>Subscribed</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New (1)</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83 · 2%</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18%</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Returning (2–10)</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701 · 18%</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24%</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Loyal (11+)</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3,116 · 80%</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960"/>
                        </a:lnSpc>
                        <a:buNone/>
                      </a:pPr>
                      <a:r>
                        <a:rPr lang="en-US" sz="1400" dirty="0">
                          <a:solidFill>
                            <a:srgbClr val="15213B"/>
                          </a:solidFill>
                          <a:latin typeface="Arial" pitchFamily="34" charset="0"/>
                          <a:ea typeface="Arial" pitchFamily="34" charset="-122"/>
                          <a:cs typeface="Arial" pitchFamily="34" charset="-120"/>
                        </a:rPr>
                        <a:t>28%</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800" y="4063405"/>
            <a:ext cx="640969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Subscribers spend </a:t>
            </a:r>
            <a:r>
              <a:rPr lang="en-US" sz="1400" b="1" dirty="0">
                <a:solidFill>
                  <a:srgbClr val="15213B"/>
                </a:solidFill>
                <a:latin typeface="Arial" pitchFamily="34" charset="0"/>
                <a:ea typeface="Arial" pitchFamily="34" charset="-122"/>
                <a:cs typeface="Arial" pitchFamily="34" charset="-120"/>
              </a:rPr>
              <a:t>$59.49</a:t>
            </a:r>
            <a:r>
              <a:rPr lang="en-US" sz="1400" dirty="0">
                <a:solidFill>
                  <a:srgbClr val="4A5568"/>
                </a:solidFill>
                <a:latin typeface="Arial" pitchFamily="34" charset="0"/>
                <a:ea typeface="Arial" pitchFamily="34" charset="-122"/>
                <a:cs typeface="Arial" pitchFamily="34" charset="-120"/>
              </a:rPr>
              <a:t> per order vs </a:t>
            </a:r>
            <a:r>
              <a:rPr lang="en-US" sz="1400" b="1" dirty="0">
                <a:solidFill>
                  <a:srgbClr val="15213B"/>
                </a:solidFill>
                <a:latin typeface="Arial" pitchFamily="34" charset="0"/>
                <a:ea typeface="Arial" pitchFamily="34" charset="-122"/>
                <a:cs typeface="Arial" pitchFamily="34" charset="-120"/>
              </a:rPr>
              <a:t>$59.87</a:t>
            </a:r>
            <a:r>
              <a:rPr lang="en-US" sz="1400" dirty="0">
                <a:solidFill>
                  <a:srgbClr val="4A5568"/>
                </a:solidFill>
                <a:latin typeface="Arial" pitchFamily="34" charset="0"/>
                <a:ea typeface="Arial" pitchFamily="34" charset="-122"/>
                <a:cs typeface="Arial" pitchFamily="34" charset="-120"/>
              </a:rPr>
              <a:t> for non-subscribers. Non-subscribers bring in 73% of revenue.</a:t>
            </a:r>
            <a:endParaRPr lang="en-US" sz="1400" dirty="0"/>
          </a:p>
        </p:txBody>
      </p:sp>
      <p:sp>
        <p:nvSpPr>
          <p:cNvPr id="7" name="Shape 4"/>
          <p:cNvSpPr/>
          <p:nvPr/>
        </p:nvSpPr>
        <p:spPr>
          <a:xfrm>
            <a:off x="7442200" y="2059849"/>
            <a:ext cx="3937000" cy="2501371"/>
          </a:xfrm>
          <a:prstGeom prst="roundRect">
            <a:avLst>
              <a:gd name="adj" fmla="val 4062"/>
            </a:avLst>
          </a:prstGeom>
          <a:solidFill>
            <a:srgbClr val="15213B"/>
          </a:solidFill>
          <a:ln/>
        </p:spPr>
      </p:sp>
      <p:sp>
        <p:nvSpPr>
          <p:cNvPr id="8" name="Text 5"/>
          <p:cNvSpPr/>
          <p:nvPr/>
        </p:nvSpPr>
        <p:spPr>
          <a:xfrm>
            <a:off x="7747000" y="2364649"/>
            <a:ext cx="3427222"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2A65A"/>
                </a:solidFill>
                <a:latin typeface="Arial" pitchFamily="34" charset="0"/>
                <a:ea typeface="Arial" pitchFamily="34" charset="-122"/>
                <a:cs typeface="Arial" pitchFamily="34" charset="-120"/>
              </a:rPr>
              <a:t>2,518</a:t>
            </a:r>
            <a:endParaRPr lang="en-US" sz="4800" dirty="0"/>
          </a:p>
        </p:txBody>
      </p:sp>
      <p:sp>
        <p:nvSpPr>
          <p:cNvPr id="9" name="Text 6"/>
          <p:cNvSpPr/>
          <p:nvPr/>
        </p:nvSpPr>
        <p:spPr>
          <a:xfrm>
            <a:off x="7747000" y="3136770"/>
            <a:ext cx="342722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Arial" pitchFamily="34" charset="0"/>
                <a:ea typeface="Arial" pitchFamily="34" charset="-122"/>
                <a:cs typeface="Arial" pitchFamily="34" charset="-120"/>
              </a:rPr>
              <a:t>repeat buyers (5+ previous purchases) have </a:t>
            </a:r>
            <a:r>
              <a:rPr lang="en-US" sz="1500" b="1" dirty="0">
                <a:solidFill>
                  <a:srgbClr val="F6F4EF"/>
                </a:solidFill>
                <a:latin typeface="Arial" pitchFamily="34" charset="0"/>
                <a:ea typeface="Arial" pitchFamily="34" charset="-122"/>
                <a:cs typeface="Arial" pitchFamily="34" charset="-120"/>
              </a:rPr>
              <a:t>not</a:t>
            </a:r>
            <a:r>
              <a:rPr lang="en-US" sz="1500" dirty="0">
                <a:solidFill>
                  <a:srgbClr val="F6F4EF"/>
                </a:solidFill>
                <a:latin typeface="Arial" pitchFamily="34" charset="0"/>
                <a:ea typeface="Arial" pitchFamily="34" charset="-122"/>
                <a:cs typeface="Arial" pitchFamily="34" charset="-120"/>
              </a:rPr>
              <a:t> subscribed</a:t>
            </a:r>
            <a:endParaRPr lang="en-US" sz="1500" dirty="0"/>
          </a:p>
        </p:txBody>
      </p:sp>
      <p:sp>
        <p:nvSpPr>
          <p:cNvPr id="10" name="Text 7"/>
          <p:cNvSpPr/>
          <p:nvPr/>
        </p:nvSpPr>
        <p:spPr>
          <a:xfrm>
            <a:off x="7747000" y="3771770"/>
            <a:ext cx="3427222"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3D6"/>
                </a:solidFill>
                <a:latin typeface="Arial" pitchFamily="34" charset="0"/>
                <a:ea typeface="Arial" pitchFamily="34" charset="-122"/>
                <a:cs typeface="Arial" pitchFamily="34" charset="-120"/>
              </a:rPr>
              <a:t>Only 27.6% of repeat buyers subscribe, the same as the 27% overall rate.</a:t>
            </a:r>
            <a:endParaRPr lang="en-US" sz="1300" dirty="0"/>
          </a:p>
        </p:txBody>
      </p:sp>
      <p:sp>
        <p:nvSpPr>
          <p:cNvPr id="11" name="Text 8"/>
          <p:cNvSpPr/>
          <p:nvPr/>
        </p:nvSpPr>
        <p:spPr>
          <a:xfrm>
            <a:off x="812800" y="4815222"/>
            <a:ext cx="10566400" cy="571500"/>
          </a:xfrm>
          <a:prstGeom prst="rect">
            <a:avLst/>
          </a:prstGeom>
          <a:solidFill>
            <a:srgbClr val="FFFFFF"/>
          </a:solidFill>
          <a:ln/>
        </p:spPr>
        <p:txBody>
          <a:bodyPr wrap="square" lIns="241300" tIns="152400" rIns="0" bIns="127000" rtlCol="0" anchor="t">
            <a:normAutofit/>
          </a:bodyPr>
          <a:lstStyle/>
          <a:p>
            <a:pPr marL="0" indent="0" algn="l">
              <a:lnSpc>
                <a:spcPts val="2100"/>
              </a:lnSpc>
              <a:buNone/>
            </a:pPr>
            <a:r>
              <a:rPr lang="en-US" sz="1500" b="1" dirty="0">
                <a:solidFill>
                  <a:srgbClr val="15213B"/>
                </a:solidFill>
                <a:latin typeface="Arial" pitchFamily="34" charset="0"/>
                <a:ea typeface="Arial" pitchFamily="34" charset="-122"/>
                <a:cs typeface="Arial" pitchFamily="34" charset="-120"/>
              </a:rPr>
              <a:t>So what:</a:t>
            </a:r>
            <a:r>
              <a:rPr lang="en-US" sz="1500" dirty="0">
                <a:solidFill>
                  <a:srgbClr val="15213B"/>
                </a:solidFill>
                <a:latin typeface="Arial" pitchFamily="34" charset="0"/>
                <a:ea typeface="Arial" pitchFamily="34" charset="-122"/>
                <a:cs typeface="Arial" pitchFamily="34" charset="-120"/>
              </a:rPr>
              <a:t> redesign the subscription offer and target these 2,518 buyers.</a:t>
            </a:r>
            <a:endParaRPr lang="en-US" sz="1500" dirty="0"/>
          </a:p>
        </p:txBody>
      </p:sp>
      <p:sp>
        <p:nvSpPr>
          <p:cNvPr id="12" name="Shape 9"/>
          <p:cNvSpPr/>
          <p:nvPr/>
        </p:nvSpPr>
        <p:spPr>
          <a:xfrm>
            <a:off x="831850" y="4815222"/>
            <a:ext cx="0" cy="571500"/>
          </a:xfrm>
          <a:prstGeom prst="line">
            <a:avLst/>
          </a:prstGeom>
          <a:noFill/>
          <a:ln w="38100">
            <a:solidFill>
              <a:srgbClr val="B8501F"/>
            </a:solidFill>
            <a:prstDash val="solid"/>
          </a:ln>
        </p:spPr>
      </p:sp>
      <p:sp>
        <p:nvSpPr>
          <p:cNvPr id="13" name="Text 10"/>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09 · Customer Shopping Behaviour Analysis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SEASONS, SHIPPING &amp; REGION · Q4</a:t>
            </a:r>
            <a:endParaRPr lang="en-US" sz="1200" dirty="0"/>
          </a:p>
        </p:txBody>
      </p:sp>
      <p:sp>
        <p:nvSpPr>
          <p:cNvPr id="3" name="Text 1"/>
          <p:cNvSpPr>
            <a:spLocks noGrp="1"/>
          </p:cNvSpPr>
          <p:nvPr>
            <p:ph type="title"/>
          </p:nvPr>
        </p:nvSpPr>
        <p:spPr>
          <a:xfrm>
            <a:off x="812800" y="133092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Fall peaks; Express lifts baskets</a:t>
            </a:r>
            <a:endParaRPr lang="en-US" sz="3600" dirty="0"/>
          </a:p>
        </p:txBody>
      </p:sp>
      <p:sp>
        <p:nvSpPr>
          <p:cNvPr id="4" name="Shape 2"/>
          <p:cNvSpPr/>
          <p:nvPr/>
        </p:nvSpPr>
        <p:spPr>
          <a:xfrm>
            <a:off x="815975" y="2164624"/>
            <a:ext cx="3380317" cy="3459692"/>
          </a:xfrm>
          <a:prstGeom prst="roundRect">
            <a:avLst>
              <a:gd name="adj" fmla="val 2912"/>
            </a:avLst>
          </a:prstGeom>
          <a:solidFill>
            <a:srgbClr val="FFFFFF"/>
          </a:solidFill>
          <a:ln w="6350">
            <a:solidFill>
              <a:srgbClr val="E2DED4"/>
            </a:solidFill>
            <a:prstDash val="solid"/>
          </a:ln>
        </p:spPr>
      </p:sp>
      <p:sp>
        <p:nvSpPr>
          <p:cNvPr id="5" name="Text 3"/>
          <p:cNvSpPr/>
          <p:nvPr/>
        </p:nvSpPr>
        <p:spPr>
          <a:xfrm>
            <a:off x="1071033" y="2419685"/>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E6BAA"/>
                </a:solidFill>
                <a:latin typeface="Arial" pitchFamily="34" charset="0"/>
                <a:ea typeface="Arial" pitchFamily="34" charset="-122"/>
                <a:cs typeface="Arial" pitchFamily="34" charset="-120"/>
              </a:rPr>
              <a:t>Seasons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83733" y="2777796"/>
          <a:ext cx="2857500" cy="1796520"/>
        </p:xfrm>
        <a:graphic>
          <a:graphicData uri="http://schemas.openxmlformats.org/drawingml/2006/table">
            <a:tbl>
              <a:tblPr/>
              <a:tblGrid>
                <a:gridCol w="128587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15213B"/>
                          </a:solidFill>
                          <a:latin typeface="Arial" pitchFamily="34" charset="0"/>
                          <a:ea typeface="Arial" pitchFamily="34" charset="-122"/>
                          <a:cs typeface="Arial" pitchFamily="34" charset="-120"/>
                        </a:rPr>
                        <a:t>Season</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820"/>
                        </a:lnSpc>
                        <a:buNone/>
                      </a:pPr>
                      <a:r>
                        <a:rPr lang="en-US" sz="1300" b="1" dirty="0">
                          <a:solidFill>
                            <a:srgbClr val="15213B"/>
                          </a:solidFill>
                          <a:latin typeface="Arial" pitchFamily="34" charset="0"/>
                          <a:ea typeface="Arial" pitchFamily="34" charset="-122"/>
                          <a:cs typeface="Arial" pitchFamily="34" charset="-120"/>
                        </a:rPr>
                        <a:t>Revenue</a:t>
                      </a:r>
                      <a:endParaRPr lang="en-US" sz="1300" dirty="0">
                        <a:latin typeface="Arial" charset="0"/>
                        <a:ea typeface="Arial" charset="0"/>
                        <a:cs typeface="Arial" charset="0"/>
                      </a:endParaRPr>
                    </a:p>
                  </a:txBody>
                  <a:tcPr marL="57785" marR="57785" marT="57785" marB="5778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5213B"/>
                          </a:solidFill>
                          <a:latin typeface="Arial" pitchFamily="34" charset="0"/>
                          <a:ea typeface="Arial" pitchFamily="34" charset="-122"/>
                          <a:cs typeface="Arial" pitchFamily="34" charset="-120"/>
                        </a:rPr>
                        <a:t>Fall</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5213B"/>
                          </a:solidFill>
                          <a:latin typeface="Arial" pitchFamily="34" charset="0"/>
                          <a:ea typeface="Arial" pitchFamily="34" charset="-122"/>
                          <a:cs typeface="Arial" pitchFamily="34" charset="-120"/>
                        </a:rPr>
                        <a:t>$60.0K (peak)</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5213B"/>
                          </a:solidFill>
                          <a:latin typeface="Arial" pitchFamily="34" charset="0"/>
                          <a:ea typeface="Arial" pitchFamily="34" charset="-122"/>
                          <a:cs typeface="Arial" pitchFamily="34" charset="-120"/>
                        </a:rPr>
                        <a:t>Spring</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5213B"/>
                          </a:solidFill>
                          <a:latin typeface="Arial" pitchFamily="34" charset="0"/>
                          <a:ea typeface="Arial" pitchFamily="34" charset="-122"/>
                          <a:cs typeface="Arial" pitchFamily="34" charset="-120"/>
                        </a:rPr>
                        <a:t>$58.7K</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5213B"/>
                          </a:solidFill>
                          <a:latin typeface="Arial" pitchFamily="34" charset="0"/>
                          <a:ea typeface="Arial" pitchFamily="34" charset="-122"/>
                          <a:cs typeface="Arial" pitchFamily="34" charset="-120"/>
                        </a:rPr>
                        <a:t>Winter</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5213B"/>
                          </a:solidFill>
                          <a:latin typeface="Arial" pitchFamily="34" charset="0"/>
                          <a:ea typeface="Arial" pitchFamily="34" charset="-122"/>
                          <a:cs typeface="Arial" pitchFamily="34" charset="-120"/>
                        </a:rPr>
                        <a:t>$58.6K</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5213B"/>
                          </a:solidFill>
                          <a:latin typeface="Arial" pitchFamily="34" charset="0"/>
                          <a:ea typeface="Arial" pitchFamily="34" charset="-122"/>
                          <a:cs typeface="Arial" pitchFamily="34" charset="-120"/>
                        </a:rPr>
                        <a:t>Summer</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5213B"/>
                          </a:solidFill>
                          <a:latin typeface="Arial" pitchFamily="34" charset="0"/>
                          <a:ea typeface="Arial" pitchFamily="34" charset="-122"/>
                          <a:cs typeface="Arial" pitchFamily="34" charset="-120"/>
                        </a:rPr>
                        <a:t>$55.8K (low)</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1071033" y="4675919"/>
            <a:ext cx="2956306"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Fall also has the top avg order ($61.56). Outerwear peaks in Fall, not Winter.</a:t>
            </a:r>
            <a:endParaRPr lang="en-US" sz="1300" dirty="0"/>
          </a:p>
        </p:txBody>
      </p:sp>
      <p:sp>
        <p:nvSpPr>
          <p:cNvPr id="8" name="Shape 5"/>
          <p:cNvSpPr/>
          <p:nvPr/>
        </p:nvSpPr>
        <p:spPr>
          <a:xfrm>
            <a:off x="4405842" y="2164624"/>
            <a:ext cx="3380317" cy="3459692"/>
          </a:xfrm>
          <a:prstGeom prst="roundRect">
            <a:avLst>
              <a:gd name="adj" fmla="val 2912"/>
            </a:avLst>
          </a:prstGeom>
          <a:solidFill>
            <a:srgbClr val="FFFFFF"/>
          </a:solidFill>
          <a:ln w="6350">
            <a:solidFill>
              <a:srgbClr val="E2DED4"/>
            </a:solidFill>
            <a:prstDash val="solid"/>
          </a:ln>
        </p:spPr>
      </p:sp>
      <p:sp>
        <p:nvSpPr>
          <p:cNvPr id="9" name="Text 6"/>
          <p:cNvSpPr/>
          <p:nvPr/>
        </p:nvSpPr>
        <p:spPr>
          <a:xfrm>
            <a:off x="4660900" y="2419685"/>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E6BAA"/>
                </a:solidFill>
                <a:latin typeface="Arial" pitchFamily="34" charset="0"/>
                <a:ea typeface="Arial" pitchFamily="34" charset="-122"/>
                <a:cs typeface="Arial" pitchFamily="34" charset="-120"/>
              </a:rPr>
              <a:t>Shipping</a:t>
            </a:r>
            <a:endParaRPr lang="en-US" sz="1600" dirty="0"/>
          </a:p>
        </p:txBody>
      </p:sp>
      <p:sp>
        <p:nvSpPr>
          <p:cNvPr id="10" name="Text 7"/>
          <p:cNvSpPr/>
          <p:nvPr/>
        </p:nvSpPr>
        <p:spPr>
          <a:xfrm>
            <a:off x="4660900" y="2765096"/>
            <a:ext cx="2956306"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5213B"/>
                </a:solidFill>
                <a:latin typeface="Arial" pitchFamily="34" charset="0"/>
                <a:ea typeface="Arial" pitchFamily="34" charset="-122"/>
                <a:cs typeface="Arial" pitchFamily="34" charset="-120"/>
              </a:rPr>
              <a:t>+3.5%</a:t>
            </a:r>
            <a:endParaRPr lang="en-US" sz="3200" dirty="0"/>
          </a:p>
        </p:txBody>
      </p:sp>
      <p:sp>
        <p:nvSpPr>
          <p:cNvPr id="11" name="Text 8"/>
          <p:cNvSpPr/>
          <p:nvPr/>
        </p:nvSpPr>
        <p:spPr>
          <a:xfrm>
            <a:off x="4660900" y="3313708"/>
            <a:ext cx="295630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Express orders average $60.48 vs $58.46 for Standard.</a:t>
            </a:r>
            <a:endParaRPr lang="en-US" sz="1300" dirty="0"/>
          </a:p>
        </p:txBody>
      </p:sp>
      <p:sp>
        <p:nvSpPr>
          <p:cNvPr id="12" name="Text 9"/>
          <p:cNvSpPr/>
          <p:nvPr/>
        </p:nvSpPr>
        <p:spPr>
          <a:xfrm>
            <a:off x="4660900" y="3877537"/>
            <a:ext cx="295630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Offer free Express above a minimum order value.</a:t>
            </a:r>
            <a:endParaRPr lang="en-US" sz="1300" dirty="0"/>
          </a:p>
        </p:txBody>
      </p:sp>
      <p:sp>
        <p:nvSpPr>
          <p:cNvPr id="13" name="Shape 10"/>
          <p:cNvSpPr/>
          <p:nvPr/>
        </p:nvSpPr>
        <p:spPr>
          <a:xfrm>
            <a:off x="7995709" y="2164624"/>
            <a:ext cx="3380317" cy="3459692"/>
          </a:xfrm>
          <a:prstGeom prst="roundRect">
            <a:avLst>
              <a:gd name="adj" fmla="val 2912"/>
            </a:avLst>
          </a:prstGeom>
          <a:solidFill>
            <a:srgbClr val="FFFFFF"/>
          </a:solidFill>
          <a:ln w="6350">
            <a:solidFill>
              <a:srgbClr val="E2DED4"/>
            </a:solidFill>
            <a:prstDash val="solid"/>
          </a:ln>
        </p:spPr>
      </p:sp>
      <p:sp>
        <p:nvSpPr>
          <p:cNvPr id="14" name="Text 11"/>
          <p:cNvSpPr/>
          <p:nvPr/>
        </p:nvSpPr>
        <p:spPr>
          <a:xfrm>
            <a:off x="8250767" y="2419685"/>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E6BAA"/>
                </a:solidFill>
                <a:latin typeface="Arial" pitchFamily="34" charset="0"/>
                <a:ea typeface="Arial" pitchFamily="34" charset="-122"/>
                <a:cs typeface="Arial" pitchFamily="34" charset="-120"/>
              </a:rPr>
              <a:t>Payment &amp; region</a:t>
            </a:r>
            <a:endParaRPr lang="en-US" sz="1600" dirty="0"/>
          </a:p>
        </p:txBody>
      </p:sp>
      <p:sp>
        <p:nvSpPr>
          <p:cNvPr id="15" name="Text 12"/>
          <p:cNvSpPr/>
          <p:nvPr/>
        </p:nvSpPr>
        <p:spPr>
          <a:xfrm>
            <a:off x="8250767" y="2765096"/>
            <a:ext cx="2956306"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All six payment methods are within $4K of each other. Payment doesn’t drive spend.</a:t>
            </a:r>
            <a:endParaRPr lang="en-US" sz="1300" dirty="0"/>
          </a:p>
        </p:txBody>
      </p:sp>
      <p:sp>
        <p:nvSpPr>
          <p:cNvPr id="16" name="Text 13"/>
          <p:cNvSpPr/>
          <p:nvPr/>
        </p:nvSpPr>
        <p:spPr>
          <a:xfrm>
            <a:off x="8250767" y="3560037"/>
            <a:ext cx="2956306" cy="7187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5213B"/>
                </a:solidFill>
                <a:latin typeface="Arial" pitchFamily="34" charset="0"/>
                <a:ea typeface="Arial" pitchFamily="34" charset="-122"/>
                <a:cs typeface="Arial" pitchFamily="34" charset="-120"/>
              </a:rPr>
              <a:t>Top states:</a:t>
            </a:r>
            <a:r>
              <a:rPr lang="en-US" sz="1300" dirty="0">
                <a:solidFill>
                  <a:srgbClr val="4A5568"/>
                </a:solidFill>
                <a:latin typeface="Arial" pitchFamily="34" charset="0"/>
                <a:ea typeface="Arial" pitchFamily="34" charset="-122"/>
                <a:cs typeface="Arial" pitchFamily="34" charset="-120"/>
              </a:rPr>
              <a:t> Montana, Illinois, California. </a:t>
            </a:r>
            <a:r>
              <a:rPr lang="en-US" sz="1300" b="1" dirty="0">
                <a:solidFill>
                  <a:srgbClr val="15213B"/>
                </a:solidFill>
                <a:latin typeface="Arial" pitchFamily="34" charset="0"/>
                <a:ea typeface="Arial" pitchFamily="34" charset="-122"/>
                <a:cs typeface="Arial" pitchFamily="34" charset="-120"/>
              </a:rPr>
              <a:t>Weakest:</a:t>
            </a:r>
            <a:r>
              <a:rPr lang="en-US" sz="1300" dirty="0">
                <a:solidFill>
                  <a:srgbClr val="4A5568"/>
                </a:solidFill>
                <a:latin typeface="Arial" pitchFamily="34" charset="0"/>
                <a:ea typeface="Arial" pitchFamily="34" charset="-122"/>
                <a:cs typeface="Arial" pitchFamily="34" charset="-120"/>
              </a:rPr>
              <a:t> Kansas, Hawaii, Florida.</a:t>
            </a:r>
            <a:endParaRPr lang="en-US" sz="1300" dirty="0"/>
          </a:p>
        </p:txBody>
      </p:sp>
      <p:sp>
        <p:nvSpPr>
          <p:cNvPr id="17" name="Text 14"/>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10 · Customer Shopping Behaviour Analysis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13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65A"/>
                </a:solidFill>
                <a:latin typeface="Arial" pitchFamily="34" charset="0"/>
                <a:ea typeface="Arial" pitchFamily="34" charset="-122"/>
                <a:cs typeface="Arial" pitchFamily="34" charset="-120"/>
              </a:rPr>
              <a:t>ANSWER TO THE BUSINESS QUESTION</a:t>
            </a:r>
            <a:endParaRPr lang="en-US" sz="1200" dirty="0"/>
          </a:p>
        </p:txBody>
      </p:sp>
      <p:sp>
        <p:nvSpPr>
          <p:cNvPr id="3" name="Text 1"/>
          <p:cNvSpPr>
            <a:spLocks noGrp="1"/>
          </p:cNvSpPr>
          <p:nvPr>
            <p:ph type="title"/>
          </p:nvPr>
        </p:nvSpPr>
        <p:spPr>
          <a:xfrm>
            <a:off x="812800" y="133092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6F4EF"/>
                </a:solidFill>
                <a:latin typeface="Arial" pitchFamily="34" charset="0"/>
                <a:ea typeface="Arial" pitchFamily="34" charset="-122"/>
                <a:cs typeface="Arial" pitchFamily="34" charset="-120"/>
              </a:rPr>
              <a:t>Four ways to use the data</a:t>
            </a:r>
            <a:endParaRPr lang="en-US" sz="3600" dirty="0"/>
          </a:p>
        </p:txBody>
      </p:sp>
      <p:sp>
        <p:nvSpPr>
          <p:cNvPr id="4" name="Shape 2"/>
          <p:cNvSpPr/>
          <p:nvPr/>
        </p:nvSpPr>
        <p:spPr>
          <a:xfrm>
            <a:off x="812800" y="2161449"/>
            <a:ext cx="5181600" cy="1356320"/>
          </a:xfrm>
          <a:prstGeom prst="roundRect">
            <a:avLst>
              <a:gd name="adj" fmla="val 7491"/>
            </a:avLst>
          </a:prstGeom>
          <a:solidFill>
            <a:srgbClr val="1E3157"/>
          </a:solidFill>
          <a:ln/>
        </p:spPr>
      </p:sp>
      <p:sp>
        <p:nvSpPr>
          <p:cNvPr id="5" name="Text 3"/>
          <p:cNvSpPr/>
          <p:nvPr/>
        </p:nvSpPr>
        <p:spPr>
          <a:xfrm>
            <a:off x="1066800" y="2415449"/>
            <a:ext cx="48138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2A65A"/>
                </a:solidFill>
                <a:latin typeface="Arial" pitchFamily="34" charset="0"/>
                <a:ea typeface="Arial" pitchFamily="34" charset="-122"/>
                <a:cs typeface="Arial" pitchFamily="34" charset="-120"/>
              </a:rPr>
              <a:t>1 · Trends</a:t>
            </a:r>
            <a:endParaRPr lang="en-US" sz="1800" dirty="0"/>
          </a:p>
        </p:txBody>
      </p:sp>
      <p:sp>
        <p:nvSpPr>
          <p:cNvPr id="6" name="Text 4"/>
          <p:cNvSpPr/>
          <p:nvPr/>
        </p:nvSpPr>
        <p:spPr>
          <a:xfrm>
            <a:off x="1066800" y="2765958"/>
            <a:ext cx="481380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A"/>
                </a:solidFill>
                <a:latin typeface="Arial" pitchFamily="34" charset="0"/>
                <a:ea typeface="Arial" pitchFamily="34" charset="-122"/>
                <a:cs typeface="Arial" pitchFamily="34" charset="-120"/>
              </a:rPr>
              <a:t>Demand is spread evenly; Fall and Clothing lead. Grow volume, not basket size.</a:t>
            </a:r>
            <a:endParaRPr lang="en-US" sz="1400" dirty="0"/>
          </a:p>
        </p:txBody>
      </p:sp>
      <p:sp>
        <p:nvSpPr>
          <p:cNvPr id="7" name="Shape 5"/>
          <p:cNvSpPr/>
          <p:nvPr/>
        </p:nvSpPr>
        <p:spPr>
          <a:xfrm>
            <a:off x="6197600" y="2161449"/>
            <a:ext cx="5181600" cy="1356320"/>
          </a:xfrm>
          <a:prstGeom prst="roundRect">
            <a:avLst>
              <a:gd name="adj" fmla="val 7491"/>
            </a:avLst>
          </a:prstGeom>
          <a:solidFill>
            <a:srgbClr val="1E3157"/>
          </a:solidFill>
          <a:ln/>
        </p:spPr>
      </p:sp>
      <p:sp>
        <p:nvSpPr>
          <p:cNvPr id="8" name="Text 6"/>
          <p:cNvSpPr/>
          <p:nvPr/>
        </p:nvSpPr>
        <p:spPr>
          <a:xfrm>
            <a:off x="6451600" y="2415449"/>
            <a:ext cx="48138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2A65A"/>
                </a:solidFill>
                <a:latin typeface="Arial" pitchFamily="34" charset="0"/>
                <a:ea typeface="Arial" pitchFamily="34" charset="-122"/>
                <a:cs typeface="Arial" pitchFamily="34" charset="-120"/>
              </a:rPr>
              <a:t>2 · Engagement</a:t>
            </a:r>
            <a:endParaRPr lang="en-US" sz="1800" dirty="0"/>
          </a:p>
        </p:txBody>
      </p:sp>
      <p:sp>
        <p:nvSpPr>
          <p:cNvPr id="9" name="Text 7"/>
          <p:cNvSpPr/>
          <p:nvPr/>
        </p:nvSpPr>
        <p:spPr>
          <a:xfrm>
            <a:off x="6451600" y="2765958"/>
            <a:ext cx="481380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A"/>
                </a:solidFill>
                <a:latin typeface="Arial" pitchFamily="34" charset="0"/>
                <a:ea typeface="Arial" pitchFamily="34" charset="-122"/>
                <a:cs typeface="Arial" pitchFamily="34" charset="-120"/>
              </a:rPr>
              <a:t>Convert 2,518 loyal non-subscribers. Fix low-rated best sellers. Win more women and new customers.</a:t>
            </a:r>
            <a:endParaRPr lang="en-US" sz="1400" dirty="0"/>
          </a:p>
        </p:txBody>
      </p:sp>
      <p:sp>
        <p:nvSpPr>
          <p:cNvPr id="10" name="Shape 8"/>
          <p:cNvSpPr/>
          <p:nvPr/>
        </p:nvSpPr>
        <p:spPr>
          <a:xfrm>
            <a:off x="812800" y="3720970"/>
            <a:ext cx="5181600" cy="1356320"/>
          </a:xfrm>
          <a:prstGeom prst="roundRect">
            <a:avLst>
              <a:gd name="adj" fmla="val 7491"/>
            </a:avLst>
          </a:prstGeom>
          <a:solidFill>
            <a:srgbClr val="1E3157"/>
          </a:solidFill>
          <a:ln/>
        </p:spPr>
      </p:sp>
      <p:sp>
        <p:nvSpPr>
          <p:cNvPr id="11" name="Text 9"/>
          <p:cNvSpPr/>
          <p:nvPr/>
        </p:nvSpPr>
        <p:spPr>
          <a:xfrm>
            <a:off x="1066800" y="3974970"/>
            <a:ext cx="48138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2A65A"/>
                </a:solidFill>
                <a:latin typeface="Arial" pitchFamily="34" charset="0"/>
                <a:ea typeface="Arial" pitchFamily="34" charset="-122"/>
                <a:cs typeface="Arial" pitchFamily="34" charset="-120"/>
              </a:rPr>
              <a:t>3 · Marketing</a:t>
            </a:r>
            <a:endParaRPr lang="en-US" sz="1800" dirty="0"/>
          </a:p>
        </p:txBody>
      </p:sp>
      <p:sp>
        <p:nvSpPr>
          <p:cNvPr id="12" name="Text 10"/>
          <p:cNvSpPr/>
          <p:nvPr/>
        </p:nvSpPr>
        <p:spPr>
          <a:xfrm>
            <a:off x="1066800" y="4325479"/>
            <a:ext cx="481380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A"/>
                </a:solidFill>
                <a:latin typeface="Arial" pitchFamily="34" charset="0"/>
                <a:ea typeface="Arial" pitchFamily="34" charset="-122"/>
                <a:cs typeface="Arial" pitchFamily="34" charset="-120"/>
              </a:rPr>
              <a:t>Swap blanket discounts for targeted, seasonal and regional campaigns. Use free Express as the hook.</a:t>
            </a:r>
            <a:endParaRPr lang="en-US" sz="1400" dirty="0"/>
          </a:p>
        </p:txBody>
      </p:sp>
      <p:sp>
        <p:nvSpPr>
          <p:cNvPr id="13" name="Shape 11"/>
          <p:cNvSpPr/>
          <p:nvPr/>
        </p:nvSpPr>
        <p:spPr>
          <a:xfrm>
            <a:off x="6197600" y="3720970"/>
            <a:ext cx="5181600" cy="1356320"/>
          </a:xfrm>
          <a:prstGeom prst="roundRect">
            <a:avLst>
              <a:gd name="adj" fmla="val 7491"/>
            </a:avLst>
          </a:prstGeom>
          <a:solidFill>
            <a:srgbClr val="1E3157"/>
          </a:solidFill>
          <a:ln/>
        </p:spPr>
      </p:sp>
      <p:sp>
        <p:nvSpPr>
          <p:cNvPr id="14" name="Text 12"/>
          <p:cNvSpPr/>
          <p:nvPr/>
        </p:nvSpPr>
        <p:spPr>
          <a:xfrm>
            <a:off x="6451600" y="3974970"/>
            <a:ext cx="48138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2A65A"/>
                </a:solidFill>
                <a:latin typeface="Arial" pitchFamily="34" charset="0"/>
                <a:ea typeface="Arial" pitchFamily="34" charset="-122"/>
                <a:cs typeface="Arial" pitchFamily="34" charset="-120"/>
              </a:rPr>
              <a:t>4 · Products</a:t>
            </a:r>
            <a:endParaRPr lang="en-US" sz="1800" dirty="0"/>
          </a:p>
        </p:txBody>
      </p:sp>
      <p:sp>
        <p:nvSpPr>
          <p:cNvPr id="15" name="Text 13"/>
          <p:cNvSpPr/>
          <p:nvPr/>
        </p:nvSpPr>
        <p:spPr>
          <a:xfrm>
            <a:off x="6451600" y="4325479"/>
            <a:ext cx="481380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A"/>
                </a:solidFill>
                <a:latin typeface="Arial" pitchFamily="34" charset="0"/>
                <a:ea typeface="Arial" pitchFamily="34" charset="-122"/>
                <a:cs typeface="Arial" pitchFamily="34" charset="-120"/>
              </a:rPr>
              <a:t>Stock up on best sellers, push highly rated Footwear and Accessories, bundle Outerwear.</a:t>
            </a:r>
            <a:endParaRPr lang="en-US" sz="1400" dirty="0"/>
          </a:p>
        </p:txBody>
      </p:sp>
      <p:sp>
        <p:nvSpPr>
          <p:cNvPr id="16" name="Text 14"/>
          <p:cNvSpPr/>
          <p:nvPr/>
        </p:nvSpPr>
        <p:spPr>
          <a:xfrm>
            <a:off x="812800" y="6238280"/>
            <a:ext cx="35647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8AE"/>
                </a:solidFill>
                <a:latin typeface="Arial" pitchFamily="34" charset="0"/>
                <a:ea typeface="Arial" pitchFamily="34" charset="-122"/>
                <a:cs typeface="Arial" pitchFamily="34" charset="-120"/>
              </a:rPr>
              <a:t>11 · Customer Shopping Behaviour Analysis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01F"/>
                </a:solidFill>
                <a:latin typeface="Arial" pitchFamily="34" charset="0"/>
                <a:ea typeface="Arial" pitchFamily="34" charset="-122"/>
                <a:cs typeface="Arial" pitchFamily="34" charset="-120"/>
              </a:rPr>
              <a:t>LIMITATIONS &amp; NEXT STEPS</a:t>
            </a:r>
            <a:endParaRPr lang="en-US" sz="1200" dirty="0"/>
          </a:p>
        </p:txBody>
      </p:sp>
      <p:sp>
        <p:nvSpPr>
          <p:cNvPr id="3" name="Text 1"/>
          <p:cNvSpPr>
            <a:spLocks noGrp="1"/>
          </p:cNvSpPr>
          <p:nvPr>
            <p:ph type="title"/>
          </p:nvPr>
        </p:nvSpPr>
        <p:spPr>
          <a:xfrm>
            <a:off x="812800" y="133092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13B"/>
                </a:solidFill>
                <a:latin typeface="Arial" pitchFamily="34" charset="0"/>
                <a:ea typeface="Arial" pitchFamily="34" charset="-122"/>
                <a:cs typeface="Arial" pitchFamily="34" charset="-120"/>
              </a:rPr>
              <a:t>Read the findings with these caveats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74149"/>
          <a:ext cx="10553700" cy="1929805"/>
        </p:xfrm>
        <a:graphic>
          <a:graphicData uri="http://schemas.openxmlformats.org/drawingml/2006/table">
            <a:tbl>
              <a:tblPr/>
              <a:tblGrid>
                <a:gridCol w="2955036">
                  <a:extLst>
                    <a:ext uri="{9D8B030D-6E8A-4147-A177-3AD203B41FA5}">
                      <a16:colId xmlns:a16="http://schemas.microsoft.com/office/drawing/2014/main" val="20000"/>
                    </a:ext>
                  </a:extLst>
                </a:gridCol>
                <a:gridCol w="7598664">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15213B"/>
                          </a:solidFill>
                          <a:latin typeface="Arial" pitchFamily="34" charset="0"/>
                          <a:ea typeface="Arial" pitchFamily="34" charset="-122"/>
                          <a:cs typeface="Arial" pitchFamily="34" charset="-120"/>
                        </a:rPr>
                        <a:t>Caveat</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5213B"/>
                          </a:solidFill>
                          <a:latin typeface="Arial" pitchFamily="34" charset="0"/>
                          <a:ea typeface="Arial" pitchFamily="34" charset="-122"/>
                          <a:cs typeface="Arial" pitchFamily="34" charset="-120"/>
                        </a:rPr>
                        <a:t>Why it matters</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Confounded data</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No woman subscribed or got a discount; all subscribers got one.</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No channel field</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Online vs offline can’t be measured; Store Pickup is the only proxy.</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Segment threshold</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11+ purchases = Loyal puts 80% in one group; use quartiles instead.</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Small differences</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5213B"/>
                          </a:solidFill>
                          <a:latin typeface="Arial" pitchFamily="34" charset="0"/>
                          <a:ea typeface="Arial" pitchFamily="34" charset="-122"/>
                          <a:cs typeface="Arial" pitchFamily="34" charset="-120"/>
                        </a:rPr>
                        <a:t>Most gaps are 2–5% and untested, so treat them as directional.</a:t>
                      </a:r>
                      <a:endParaRPr lang="en-US" sz="1400" dirty="0">
                        <a:latin typeface="Arial" charset="0"/>
                        <a:ea typeface="Arial" charset="0"/>
                        <a:cs typeface="Arial"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12800" y="6238280"/>
            <a:ext cx="3578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Arial" pitchFamily="34" charset="0"/>
                <a:ea typeface="Arial" pitchFamily="34" charset="-122"/>
                <a:cs typeface="Arial" pitchFamily="34" charset="-120"/>
              </a:rPr>
              <a:t>12 · Customer Shopping Behaviour Analysis</a:t>
            </a:r>
            <a:endParaRPr lang="en-US" sz="1200" dirty="0"/>
          </a:p>
        </p:txBody>
      </p:sp>
    </p:spTree>
  </p:cSld>
  <p:clrMapOvr>
    <a:masterClrMapping/>
  </p:clrMapOvr>
</p:sld>
</file>

<file path=ppt/theme/theme1.xml><?xml version="1.0" encoding="utf-8"?>
<a:theme xmlns:a="http://schemas.openxmlformats.org/drawingml/2006/main" name="Customer Shopping Behaviour Analysis">
  <a:themeElements>
    <a:clrScheme name="Customer Shopping Behaviour Analysis">
      <a:dk1>
        <a:srgbClr val="15213B"/>
      </a:dk1>
      <a:lt1>
        <a:srgbClr val="F6F4EF"/>
      </a:lt1>
      <a:dk2>
        <a:srgbClr val="4D5668"/>
      </a:dk2>
      <a:lt2>
        <a:srgbClr val="E0DFDD"/>
      </a:lt2>
      <a:accent1>
        <a:srgbClr val="2E6BAA"/>
      </a:accent1>
      <a:accent2>
        <a:srgbClr val="B8501F"/>
      </a:accent2>
      <a:accent3>
        <a:srgbClr val="F2A65A"/>
      </a:accent3>
      <a:accent4>
        <a:srgbClr val="1E3157"/>
      </a:accent4>
      <a:accent5>
        <a:srgbClr val="E8A06A"/>
      </a:accent5>
      <a:accent6>
        <a:srgbClr val="4A5568"/>
      </a:accent6>
      <a:hlink>
        <a:srgbClr val="0563C1"/>
      </a:hlink>
      <a:folHlink>
        <a:srgbClr val="954F72"/>
      </a:folHlink>
    </a:clrScheme>
    <a:fontScheme name="Customer Shopping Behaviour Analys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1456</Words>
  <Application>Microsoft Office PowerPoint</Application>
  <PresentationFormat>Widescreen</PresentationFormat>
  <Paragraphs>220</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Customer Shopping Behaviour Analysis</vt:lpstr>
      <vt:lpstr>Customer Shopping Behaviour Analysis</vt:lpstr>
      <vt:lpstr>“How can the company use shopping data to spot trends, improve engagement and sharpen marketing and product strategy?”</vt:lpstr>
      <vt:lpstr>One purchase record per customer, 18 attributes</vt:lpstr>
      <vt:lpstr>Revenue depends on how many customers buy, not on how much each one spends.</vt:lpstr>
      <vt:lpstr>Men lead revenue on numbers, not spend</vt:lpstr>
      <vt:lpstr>Two categories drive 77% of revenue</vt:lpstr>
      <vt:lpstr>Discounts don’t raise spend</vt:lpstr>
      <vt:lpstr>Best sellers are among the lowest rated</vt:lpstr>
      <vt:lpstr>Loyal buyers don’t subscribe</vt:lpstr>
      <vt:lpstr>Fall peaks; Express lifts baskets</vt:lpstr>
      <vt:lpstr>Four ways to use the data</vt:lpstr>
      <vt:lpstr>Read the findings with these caveats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Behaviour Analysis</dc:title>
  <dc:subject/>
  <dc:creator/>
  <cp:lastModifiedBy>919760144771</cp:lastModifiedBy>
  <cp:revision>2</cp:revision>
  <dcterms:created xsi:type="dcterms:W3CDTF">2026-10-20T16:23:05Z</dcterms:created>
  <dcterms:modified xsi:type="dcterms:W3CDTF">2026-10-20T16:23:47Z</dcterms:modified>
</cp:coreProperties>
</file>